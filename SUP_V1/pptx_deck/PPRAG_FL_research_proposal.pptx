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905488" y="0"/>
            <a:ext cx="283464" cy="6858000"/>
          </a:xfrm>
          <a:prstGeom prst="rect">
            <a:avLst/>
          </a:prstGeom>
          <a:solidFill>
            <a:srgbClr val="EDE6FF">
              <a:alpha val="86000"/>
            </a:srgbClr>
          </a:solidFill>
          <a:ln w="12700">
            <a:solidFill>
              <a:srgbClr val="EDE6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777472" y="0"/>
            <a:ext cx="82296" cy="6858000"/>
          </a:xfrm>
          <a:prstGeom prst="rect">
            <a:avLst/>
          </a:prstGeom>
          <a:solidFill>
            <a:srgbClr val="C7B7FF">
              <a:alpha val="70000"/>
            </a:srgbClr>
          </a:solidFill>
          <a:ln w="12700">
            <a:solidFill>
              <a:srgbClr val="C7B7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49808" y="65836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6D36D8"/>
                </a:solidFill>
              </a:rPr>
              <a:t>PPRAG-FL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13232" y="1261872"/>
            <a:ext cx="7863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126"/>
                </a:solidFill>
              </a:rPr>
              <a:t>Privacy-Preserving RAG Based on Federated Learning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49808" y="1993392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5E5870"/>
                </a:solidFill>
              </a:rPr>
              <a:t>A hypernetwork-guided selective parameter upload mechanism for communication-efficient FedE4RAG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86384" y="3346704"/>
            <a:ext cx="1744218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12700">
            <a:solidFill>
              <a:srgbClr val="D8D0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50976" y="3493008"/>
            <a:ext cx="1415034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411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Private RAG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567178" y="3611880"/>
            <a:ext cx="146304" cy="0"/>
          </a:xfrm>
          <a:prstGeom prst="line">
            <a:avLst/>
          </a:prstGeom>
          <a:noFill/>
          <a:ln w="22860">
            <a:solidFill>
              <a:srgbClr val="9A7BFF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750058" y="3346704"/>
            <a:ext cx="1744218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12700">
            <a:solidFill>
              <a:srgbClr val="D8D0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14650" y="3493008"/>
            <a:ext cx="1415034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411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Federated Retriever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30852" y="3611880"/>
            <a:ext cx="146304" cy="0"/>
          </a:xfrm>
          <a:prstGeom prst="line">
            <a:avLst/>
          </a:prstGeom>
          <a:noFill/>
          <a:ln w="22860">
            <a:solidFill>
              <a:srgbClr val="9A7BFF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713732" y="3346704"/>
            <a:ext cx="1744218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12700">
            <a:solidFill>
              <a:srgbClr val="D8D0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78324" y="3493008"/>
            <a:ext cx="1415034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411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Selective Upload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94526" y="3611880"/>
            <a:ext cx="146304" cy="0"/>
          </a:xfrm>
          <a:prstGeom prst="line">
            <a:avLst/>
          </a:prstGeom>
          <a:noFill/>
          <a:ln w="22860">
            <a:solidFill>
              <a:srgbClr val="9A7BFF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677406" y="3346704"/>
            <a:ext cx="1744218" cy="530352"/>
          </a:xfrm>
          <a:prstGeom prst="roundRect">
            <a:avLst>
              <a:gd name="adj" fmla="val 20690"/>
            </a:avLst>
          </a:prstGeom>
          <a:solidFill>
            <a:srgbClr val="6D36D8"/>
          </a:solidFill>
          <a:ln w="12700">
            <a:solidFill>
              <a:srgbClr val="6D36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41998" y="3493008"/>
            <a:ext cx="1415034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Lower Payload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86384" y="5010912"/>
            <a:ext cx="2377440" cy="420624"/>
          </a:xfrm>
          <a:prstGeom prst="roundRect">
            <a:avLst>
              <a:gd name="adj" fmla="val 26087"/>
            </a:avLst>
          </a:prstGeom>
          <a:solidFill>
            <a:srgbClr val="F8F5FF"/>
          </a:solidFill>
          <a:ln w="12700">
            <a:solidFill>
              <a:srgbClr val="D8D0E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50976" y="5157216"/>
            <a:ext cx="2048256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D36D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15-minute research proposal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173968" y="6327648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D36D8"/>
                </a:solidFill>
              </a:rPr>
              <a:t>01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960352" y="0"/>
            <a:ext cx="228600" cy="6858000"/>
          </a:xfrm>
          <a:prstGeom prst="rect">
            <a:avLst/>
          </a:prstGeom>
          <a:solidFill>
            <a:srgbClr val="F4F0FF">
              <a:alpha val="82000"/>
            </a:srgbClr>
          </a:solidFill>
          <a:ln w="12700">
            <a:solidFill>
              <a:srgbClr val="F4F0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905488" y="0"/>
            <a:ext cx="36576" cy="6858000"/>
          </a:xfrm>
          <a:prstGeom prst="rect">
            <a:avLst/>
          </a:prstGeom>
          <a:solidFill>
            <a:srgbClr val="C7B7FF">
              <a:alpha val="62000"/>
            </a:srgbClr>
          </a:solidFill>
          <a:ln w="12700">
            <a:solidFill>
              <a:srgbClr val="C7B7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6355080"/>
            <a:ext cx="11109960" cy="0"/>
          </a:xfrm>
          <a:prstGeom prst="line">
            <a:avLst/>
          </a:prstGeom>
          <a:noFill/>
          <a:ln w="12700">
            <a:solidFill>
              <a:srgbClr val="E9E1FF">
                <a:alpha val="9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39165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A748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Outline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210544" y="6345936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D36D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02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58368" y="41148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D36D8"/>
                </a:solidFill>
              </a:rPr>
              <a:t>OUTLINE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21792" y="658368"/>
            <a:ext cx="7726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411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Talk Roadmap</a:t>
            </a:r>
            <a:endParaRPr lang="en-US" sz="2500" dirty="0"/>
          </a:p>
        </p:txBody>
      </p:sp>
      <p:sp>
        <p:nvSpPr>
          <p:cNvPr id="9" name="Shape 7"/>
          <p:cNvSpPr/>
          <p:nvPr/>
        </p:nvSpPr>
        <p:spPr>
          <a:xfrm>
            <a:off x="658368" y="1261872"/>
            <a:ext cx="960120" cy="0"/>
          </a:xfrm>
          <a:prstGeom prst="line">
            <a:avLst/>
          </a:prstGeom>
          <a:noFill/>
          <a:ln w="38100">
            <a:solidFill>
              <a:srgbClr val="6D36D8"/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786384" y="1874520"/>
            <a:ext cx="2304288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D8D0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50976" y="2020824"/>
            <a:ext cx="1975104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411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01  Background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547872" y="1874520"/>
            <a:ext cx="2304288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D8D0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12464" y="2020824"/>
            <a:ext cx="1975104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411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02  Related Work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309360" y="1874520"/>
            <a:ext cx="2304288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D8D0E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73952" y="2020824"/>
            <a:ext cx="1975104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411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03  Current Challenges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070848" y="1874520"/>
            <a:ext cx="2304288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D8D0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235440" y="2020824"/>
            <a:ext cx="1975104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411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04  Research Objectives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86384" y="3172968"/>
            <a:ext cx="2304288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D8D0E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50976" y="3319272"/>
            <a:ext cx="1975104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411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05  The Method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547872" y="3172968"/>
            <a:ext cx="2304288" cy="713232"/>
          </a:xfrm>
          <a:prstGeom prst="roundRect">
            <a:avLst>
              <a:gd name="adj" fmla="val 15385"/>
            </a:avLst>
          </a:prstGeom>
          <a:solidFill>
            <a:srgbClr val="F8F5FF"/>
          </a:solidFill>
          <a:ln w="12700">
            <a:solidFill>
              <a:srgbClr val="D8D0E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12464" y="3319272"/>
            <a:ext cx="1975104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411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06  Experiment Design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309360" y="3172968"/>
            <a:ext cx="2304288" cy="713232"/>
          </a:xfrm>
          <a:prstGeom prst="roundRect">
            <a:avLst>
              <a:gd name="adj" fmla="val 15385"/>
            </a:avLst>
          </a:prstGeom>
          <a:solidFill>
            <a:srgbClr val="F8F5FF"/>
          </a:solidFill>
          <a:ln w="12700">
            <a:solidFill>
              <a:srgbClr val="D8D0E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73952" y="3319272"/>
            <a:ext cx="1975104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411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07  References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9070848" y="3172968"/>
            <a:ext cx="2304288" cy="713232"/>
          </a:xfrm>
          <a:prstGeom prst="roundRect">
            <a:avLst>
              <a:gd name="adj" fmla="val 15385"/>
            </a:avLst>
          </a:prstGeom>
          <a:solidFill>
            <a:srgbClr val="F8F5FF"/>
          </a:solidFill>
          <a:ln w="12700">
            <a:solidFill>
              <a:srgbClr val="D8D0E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235440" y="3319272"/>
            <a:ext cx="1975104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411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08  Appendix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22960" y="4892040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E5870"/>
                </a:solidFill>
              </a:rPr>
              <a:t>The deck follows the source proposal, but compresses the wording for an English 15-minute presentation.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960352" y="0"/>
            <a:ext cx="228600" cy="6858000"/>
          </a:xfrm>
          <a:prstGeom prst="rect">
            <a:avLst/>
          </a:prstGeom>
          <a:solidFill>
            <a:srgbClr val="F4F0FF">
              <a:alpha val="82000"/>
            </a:srgbClr>
          </a:solidFill>
          <a:ln w="12700">
            <a:solidFill>
              <a:srgbClr val="F4F0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905488" y="0"/>
            <a:ext cx="36576" cy="6858000"/>
          </a:xfrm>
          <a:prstGeom prst="rect">
            <a:avLst/>
          </a:prstGeom>
          <a:solidFill>
            <a:srgbClr val="C7B7FF">
              <a:alpha val="62000"/>
            </a:srgbClr>
          </a:solidFill>
          <a:ln w="12700">
            <a:solidFill>
              <a:srgbClr val="C7B7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6355080"/>
            <a:ext cx="11109960" cy="0"/>
          </a:xfrm>
          <a:prstGeom prst="line">
            <a:avLst/>
          </a:prstGeom>
          <a:noFill/>
          <a:ln w="12700">
            <a:solidFill>
              <a:srgbClr val="E9E1FF">
                <a:alpha val="9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39165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A748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Background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210544" y="6345936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D36D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03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58368" y="41148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D36D8"/>
                </a:solidFill>
              </a:rPr>
              <a:t>BACKGROUND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21792" y="658368"/>
            <a:ext cx="7726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411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RAG Improves Grounding, But Private Deployment Is Hard</a:t>
            </a:r>
            <a:endParaRPr lang="en-US" sz="2500" dirty="0"/>
          </a:p>
        </p:txBody>
      </p:sp>
      <p:sp>
        <p:nvSpPr>
          <p:cNvPr id="9" name="Shape 7"/>
          <p:cNvSpPr/>
          <p:nvPr/>
        </p:nvSpPr>
        <p:spPr>
          <a:xfrm>
            <a:off x="658368" y="1261872"/>
            <a:ext cx="960120" cy="0"/>
          </a:xfrm>
          <a:prstGeom prst="line">
            <a:avLst/>
          </a:prstGeom>
          <a:noFill/>
          <a:ln w="38100">
            <a:solidFill>
              <a:srgbClr val="6D36D8"/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731520" y="1600200"/>
            <a:ext cx="342900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8D0E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77824" y="1746504"/>
            <a:ext cx="164592" cy="164592"/>
          </a:xfrm>
          <a:prstGeom prst="roundRect">
            <a:avLst>
              <a:gd name="adj" fmla="val 22222"/>
            </a:avLst>
          </a:prstGeom>
          <a:solidFill>
            <a:srgbClr val="6D36D8"/>
          </a:solidFill>
          <a:ln w="12700">
            <a:solidFill>
              <a:srgbClr val="6D36D8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70432" y="1709928"/>
            <a:ext cx="2862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41126"/>
                </a:solidFill>
              </a:rPr>
              <a:t>Why RAG matters</a:t>
            </a:r>
            <a:endParaRPr lang="en-US" sz="1220" dirty="0"/>
          </a:p>
        </p:txBody>
      </p:sp>
      <p:sp>
        <p:nvSpPr>
          <p:cNvPr id="13" name="Text 11"/>
          <p:cNvSpPr/>
          <p:nvPr/>
        </p:nvSpPr>
        <p:spPr>
          <a:xfrm>
            <a:off x="896112" y="2112264"/>
            <a:ext cx="3099816" cy="12984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E5870"/>
                </a:solidFill>
              </a:rPr>
              <a:t>Retrieval-augmented generation injects external evidence into LLM generation, improving factuality, traceability, and domain adaptation.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434840" y="1600200"/>
            <a:ext cx="342900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8D0E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81144" y="1746504"/>
            <a:ext cx="164592" cy="164592"/>
          </a:xfrm>
          <a:prstGeom prst="roundRect">
            <a:avLst>
              <a:gd name="adj" fmla="val 22222"/>
            </a:avLst>
          </a:prstGeom>
          <a:solidFill>
            <a:srgbClr val="2D74FF"/>
          </a:solidFill>
          <a:ln w="12700">
            <a:solidFill>
              <a:srgbClr val="2D74F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73752" y="1709928"/>
            <a:ext cx="2862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41126"/>
                </a:solidFill>
              </a:rPr>
              <a:t>Where it is needed</a:t>
            </a:r>
            <a:endParaRPr lang="en-US" sz="1220" dirty="0"/>
          </a:p>
        </p:txBody>
      </p:sp>
      <p:sp>
        <p:nvSpPr>
          <p:cNvPr id="17" name="Text 15"/>
          <p:cNvSpPr/>
          <p:nvPr/>
        </p:nvSpPr>
        <p:spPr>
          <a:xfrm>
            <a:off x="4599432" y="2112264"/>
            <a:ext cx="3099816" cy="12984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E5870"/>
                </a:solidFill>
              </a:rPr>
              <a:t>Finance, law, and healthcare often require vertical QA over high-value institutional knowledge bases.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138160" y="1600200"/>
            <a:ext cx="342900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8D0E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84464" y="1746504"/>
            <a:ext cx="164592" cy="164592"/>
          </a:xfrm>
          <a:prstGeom prst="roundRect">
            <a:avLst>
              <a:gd name="adj" fmla="val 22222"/>
            </a:avLst>
          </a:prstGeom>
          <a:solidFill>
            <a:srgbClr val="E24A62"/>
          </a:solidFill>
          <a:ln w="12700">
            <a:solidFill>
              <a:srgbClr val="E24A62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77072" y="1709928"/>
            <a:ext cx="2862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41126"/>
                </a:solidFill>
              </a:rPr>
              <a:t>What blocks adoption</a:t>
            </a:r>
            <a:endParaRPr lang="en-US" sz="1220" dirty="0"/>
          </a:p>
        </p:txBody>
      </p:sp>
      <p:sp>
        <p:nvSpPr>
          <p:cNvPr id="21" name="Text 19"/>
          <p:cNvSpPr/>
          <p:nvPr/>
        </p:nvSpPr>
        <p:spPr>
          <a:xfrm>
            <a:off x="8302752" y="2112264"/>
            <a:ext cx="3099816" cy="12984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E5870"/>
                </a:solidFill>
              </a:rPr>
              <a:t>The most useful corpora are sensitive. Centralizing them can violate governance rules and internal compliance policies.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1234440" y="4251960"/>
            <a:ext cx="2212848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D8D0E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399032" y="4398264"/>
            <a:ext cx="1883664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411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User Query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483864" y="4535424"/>
            <a:ext cx="146304" cy="0"/>
          </a:xfrm>
          <a:prstGeom prst="line">
            <a:avLst/>
          </a:prstGeom>
          <a:noFill/>
          <a:ln w="22860">
            <a:solidFill>
              <a:srgbClr val="9A7BFF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3666744" y="4251960"/>
            <a:ext cx="2212848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D8D0E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31336" y="4398264"/>
            <a:ext cx="1883664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411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Retriever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916168" y="4535424"/>
            <a:ext cx="146304" cy="0"/>
          </a:xfrm>
          <a:prstGeom prst="line">
            <a:avLst/>
          </a:prstGeom>
          <a:noFill/>
          <a:ln w="22860">
            <a:solidFill>
              <a:srgbClr val="9A7BFF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6099048" y="4251960"/>
            <a:ext cx="2212848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D8D0E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63640" y="4398264"/>
            <a:ext cx="1883664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411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Private Corpus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8348472" y="4535424"/>
            <a:ext cx="146304" cy="0"/>
          </a:xfrm>
          <a:prstGeom prst="line">
            <a:avLst/>
          </a:prstGeom>
          <a:noFill/>
          <a:ln w="22860">
            <a:solidFill>
              <a:srgbClr val="9A7BFF"/>
            </a:solidFill>
            <a:prstDash val="solid"/>
            <a:headEnd type="none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8531352" y="4251960"/>
            <a:ext cx="2212848" cy="566928"/>
          </a:xfrm>
          <a:prstGeom prst="roundRect">
            <a:avLst>
              <a:gd name="adj" fmla="val 19355"/>
            </a:avLst>
          </a:prstGeom>
          <a:solidFill>
            <a:srgbClr val="6D36D8"/>
          </a:solidFill>
          <a:ln w="12700">
            <a:solidFill>
              <a:srgbClr val="6D36D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695944" y="4398264"/>
            <a:ext cx="1883664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LLM Answer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960352" y="0"/>
            <a:ext cx="228600" cy="6858000"/>
          </a:xfrm>
          <a:prstGeom prst="rect">
            <a:avLst/>
          </a:prstGeom>
          <a:solidFill>
            <a:srgbClr val="F4F0FF">
              <a:alpha val="82000"/>
            </a:srgbClr>
          </a:solidFill>
          <a:ln w="12700">
            <a:solidFill>
              <a:srgbClr val="F4F0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905488" y="0"/>
            <a:ext cx="36576" cy="6858000"/>
          </a:xfrm>
          <a:prstGeom prst="rect">
            <a:avLst/>
          </a:prstGeom>
          <a:solidFill>
            <a:srgbClr val="C7B7FF">
              <a:alpha val="62000"/>
            </a:srgbClr>
          </a:solidFill>
          <a:ln w="12700">
            <a:solidFill>
              <a:srgbClr val="C7B7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6355080"/>
            <a:ext cx="11109960" cy="0"/>
          </a:xfrm>
          <a:prstGeom prst="line">
            <a:avLst/>
          </a:prstGeom>
          <a:noFill/>
          <a:ln w="12700">
            <a:solidFill>
              <a:srgbClr val="E9E1FF">
                <a:alpha val="9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39165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A748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Background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210544" y="6345936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D36D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04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58368" y="41148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D36D8"/>
                </a:solidFill>
              </a:rPr>
              <a:t>BACKGROUND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21792" y="658368"/>
            <a:ext cx="7726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411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Privacy Risk Exists Beyond Raw Text</a:t>
            </a:r>
            <a:endParaRPr lang="en-US" sz="2500" dirty="0"/>
          </a:p>
        </p:txBody>
      </p:sp>
      <p:sp>
        <p:nvSpPr>
          <p:cNvPr id="9" name="Shape 7"/>
          <p:cNvSpPr/>
          <p:nvPr/>
        </p:nvSpPr>
        <p:spPr>
          <a:xfrm>
            <a:off x="658368" y="1261872"/>
            <a:ext cx="960120" cy="0"/>
          </a:xfrm>
          <a:prstGeom prst="line">
            <a:avLst/>
          </a:prstGeom>
          <a:noFill/>
          <a:ln w="38100">
            <a:solidFill>
              <a:srgbClr val="6D36D8"/>
            </a:solidFill>
            <a:prstDash val="solid"/>
            <a:headEnd type="none"/>
            <a:tailEnd type="none"/>
          </a:ln>
        </p:spPr>
      </p:sp>
      <p:sp>
        <p:nvSpPr>
          <p:cNvPr id="10" name="Text 8"/>
          <p:cNvSpPr/>
          <p:nvPr/>
        </p:nvSpPr>
        <p:spPr>
          <a:xfrm>
            <a:off x="804672" y="1627632"/>
            <a:ext cx="5120640" cy="2926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r>
              <a:rPr lang="en-US" sz="1500" dirty="0">
                <a:solidFill>
                  <a:srgbClr val="5E587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Raw documents cannot be freely pooled across institutions.</a:t>
            </a:r>
            <a:endParaRPr lang="en-US" sz="1500" dirty="0"/>
          </a:p>
          <a:p>
            <a:r>
              <a:rPr lang="en-US" sz="1500" dirty="0">
                <a:solidFill>
                  <a:srgbClr val="5E587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Vector embeddings may still leak semantic content or membership signals.</a:t>
            </a:r>
            <a:endParaRPr lang="en-US" sz="1500" dirty="0"/>
          </a:p>
          <a:p>
            <a:r>
              <a:rPr lang="en-US" sz="1500" dirty="0">
                <a:solidFill>
                  <a:srgbClr val="5E587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shared vector database can become a governance bottleneck.</a:t>
            </a:r>
            <a:endParaRPr lang="en-US" sz="1500" dirty="0"/>
          </a:p>
          <a:p>
            <a:r>
              <a:rPr lang="en-US" sz="1500" dirty="0">
                <a:solidFill>
                  <a:srgbClr val="5E587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central question is how to improve retrieval without exposing local corpora.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00800" y="1508760"/>
            <a:ext cx="2103120" cy="27889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8D0E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47104" y="1655064"/>
            <a:ext cx="164592" cy="164592"/>
          </a:xfrm>
          <a:prstGeom prst="roundRect">
            <a:avLst>
              <a:gd name="adj" fmla="val 22222"/>
            </a:avLst>
          </a:prstGeom>
          <a:solidFill>
            <a:srgbClr val="E24A62"/>
          </a:solidFill>
          <a:ln w="12700">
            <a:solidFill>
              <a:srgbClr val="E24A62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39712" y="1618488"/>
            <a:ext cx="1536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41126"/>
                </a:solidFill>
              </a:rPr>
              <a:t>Privacy surface</a:t>
            </a:r>
            <a:endParaRPr lang="en-US" sz="1220" dirty="0"/>
          </a:p>
        </p:txBody>
      </p:sp>
      <p:sp>
        <p:nvSpPr>
          <p:cNvPr id="14" name="Text 12"/>
          <p:cNvSpPr/>
          <p:nvPr/>
        </p:nvSpPr>
        <p:spPr>
          <a:xfrm>
            <a:off x="6565392" y="2020824"/>
            <a:ext cx="1773936" cy="21671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E5870"/>
                </a:solidFill>
              </a:rPr>
              <a:t>Raw records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E5870"/>
                </a:solidFill>
              </a:rPr>
              <a:t>Embeddings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E5870"/>
                </a:solidFill>
              </a:rPr>
              <a:t>Model updates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E5870"/>
                </a:solidFill>
              </a:rPr>
              <a:t>Retrieval traces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823960" y="1828800"/>
            <a:ext cx="233172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2700">
            <a:solidFill>
              <a:srgbClr val="D8D0E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970264" y="1975104"/>
            <a:ext cx="164592" cy="164592"/>
          </a:xfrm>
          <a:prstGeom prst="roundRect">
            <a:avLst>
              <a:gd name="adj" fmla="val 22222"/>
            </a:avLst>
          </a:prstGeom>
          <a:solidFill>
            <a:srgbClr val="6D36D8"/>
          </a:solidFill>
          <a:ln w="12700">
            <a:solidFill>
              <a:srgbClr val="6D36D8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262872" y="1938528"/>
            <a:ext cx="1764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41126"/>
                </a:solidFill>
              </a:rPr>
              <a:t>Desired property</a:t>
            </a:r>
            <a:endParaRPr lang="en-US" sz="1220" dirty="0"/>
          </a:p>
        </p:txBody>
      </p:sp>
      <p:sp>
        <p:nvSpPr>
          <p:cNvPr id="18" name="Text 16"/>
          <p:cNvSpPr/>
          <p:nvPr/>
        </p:nvSpPr>
        <p:spPr>
          <a:xfrm>
            <a:off x="8988552" y="2340864"/>
            <a:ext cx="2002536" cy="1527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E5870"/>
                </a:solidFill>
              </a:rPr>
              <a:t>Local data stays local; only controlled, protected learning signals are exchanged.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522208" y="2852928"/>
            <a:ext cx="274320" cy="0"/>
          </a:xfrm>
          <a:prstGeom prst="line">
            <a:avLst/>
          </a:prstGeom>
          <a:noFill/>
          <a:ln w="25400">
            <a:solidFill>
              <a:srgbClr val="9A7BFF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960352" y="0"/>
            <a:ext cx="228600" cy="6858000"/>
          </a:xfrm>
          <a:prstGeom prst="rect">
            <a:avLst/>
          </a:prstGeom>
          <a:solidFill>
            <a:srgbClr val="F4F0FF">
              <a:alpha val="82000"/>
            </a:srgbClr>
          </a:solidFill>
          <a:ln w="12700">
            <a:solidFill>
              <a:srgbClr val="F4F0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905488" y="0"/>
            <a:ext cx="36576" cy="6858000"/>
          </a:xfrm>
          <a:prstGeom prst="rect">
            <a:avLst/>
          </a:prstGeom>
          <a:solidFill>
            <a:srgbClr val="C7B7FF">
              <a:alpha val="62000"/>
            </a:srgbClr>
          </a:solidFill>
          <a:ln w="12700">
            <a:solidFill>
              <a:srgbClr val="C7B7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6355080"/>
            <a:ext cx="11109960" cy="0"/>
          </a:xfrm>
          <a:prstGeom prst="line">
            <a:avLst/>
          </a:prstGeom>
          <a:noFill/>
          <a:ln w="12700">
            <a:solidFill>
              <a:srgbClr val="E9E1FF">
                <a:alpha val="9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39165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A748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Background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210544" y="6345936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D36D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05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58368" y="41148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D36D8"/>
                </a:solidFill>
              </a:rPr>
              <a:t>BACKGROUND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21792" y="658368"/>
            <a:ext cx="7726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411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Federated Learning Is a Natural Training Paradigm</a:t>
            </a:r>
            <a:endParaRPr lang="en-US" sz="2500" dirty="0"/>
          </a:p>
        </p:txBody>
      </p:sp>
      <p:sp>
        <p:nvSpPr>
          <p:cNvPr id="9" name="Shape 7"/>
          <p:cNvSpPr/>
          <p:nvPr/>
        </p:nvSpPr>
        <p:spPr>
          <a:xfrm>
            <a:off x="658368" y="1261872"/>
            <a:ext cx="960120" cy="0"/>
          </a:xfrm>
          <a:prstGeom prst="line">
            <a:avLst/>
          </a:prstGeom>
          <a:noFill/>
          <a:ln w="38100">
            <a:solidFill>
              <a:srgbClr val="6D36D8"/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914400" y="1965960"/>
            <a:ext cx="1417320" cy="475488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12700">
            <a:solidFill>
              <a:srgbClr val="D8D0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78992" y="2112264"/>
            <a:ext cx="1088136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411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Client A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914400" y="2898648"/>
            <a:ext cx="1417320" cy="475488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12700">
            <a:solidFill>
              <a:srgbClr val="D8D0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78992" y="3044952"/>
            <a:ext cx="1088136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411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Client B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914400" y="3831336"/>
            <a:ext cx="1417320" cy="475488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12700">
            <a:solidFill>
              <a:srgbClr val="D8D0E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78992" y="3977640"/>
            <a:ext cx="1088136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411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Client C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886200" y="2898648"/>
            <a:ext cx="1234440" cy="475488"/>
          </a:xfrm>
          <a:prstGeom prst="roundRect">
            <a:avLst>
              <a:gd name="adj" fmla="val 23077"/>
            </a:avLst>
          </a:prstGeom>
          <a:solidFill>
            <a:srgbClr val="6D36D8"/>
          </a:solidFill>
          <a:ln w="12700">
            <a:solidFill>
              <a:srgbClr val="6D36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050792" y="3044952"/>
            <a:ext cx="905256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Server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720840" y="2194560"/>
            <a:ext cx="1417320" cy="475488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12700">
            <a:solidFill>
              <a:srgbClr val="D8D0E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85432" y="2340864"/>
            <a:ext cx="1088136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411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Global Retriever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720840" y="3566160"/>
            <a:ext cx="1417320" cy="475488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12700">
            <a:solidFill>
              <a:srgbClr val="D8D0E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85432" y="3712464"/>
            <a:ext cx="1088136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411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RAG Evaluation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331720" y="2203704"/>
            <a:ext cx="1536192" cy="694944"/>
          </a:xfrm>
          <a:prstGeom prst="line">
            <a:avLst/>
          </a:prstGeom>
          <a:noFill/>
          <a:ln w="17780">
            <a:solidFill>
              <a:srgbClr val="9A7BFF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2331720" y="3136392"/>
            <a:ext cx="1536192" cy="0"/>
          </a:xfrm>
          <a:prstGeom prst="line">
            <a:avLst/>
          </a:prstGeom>
          <a:noFill/>
          <a:ln w="17780">
            <a:solidFill>
              <a:srgbClr val="9A7BFF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2331720" y="4069080"/>
            <a:ext cx="1536192" cy="-694944"/>
          </a:xfrm>
          <a:prstGeom prst="line">
            <a:avLst/>
          </a:prstGeom>
          <a:noFill/>
          <a:ln w="17780">
            <a:solidFill>
              <a:srgbClr val="9A7BFF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5120640" y="3136392"/>
            <a:ext cx="1554480" cy="-694944"/>
          </a:xfrm>
          <a:prstGeom prst="line">
            <a:avLst/>
          </a:prstGeom>
          <a:noFill/>
          <a:ln w="17780">
            <a:solidFill>
              <a:srgbClr val="9A7BFF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5120640" y="3136392"/>
            <a:ext cx="1554480" cy="694944"/>
          </a:xfrm>
          <a:prstGeom prst="line">
            <a:avLst/>
          </a:prstGeom>
          <a:noFill/>
          <a:ln w="17780">
            <a:solidFill>
              <a:srgbClr val="9A7BFF"/>
            </a:solidFill>
            <a:prstDash val="solid"/>
            <a:tailEnd type="triangle"/>
          </a:ln>
        </p:spPr>
      </p:sp>
      <p:sp>
        <p:nvSpPr>
          <p:cNvPr id="27" name="Text 25"/>
          <p:cNvSpPr/>
          <p:nvPr/>
        </p:nvSpPr>
        <p:spPr>
          <a:xfrm>
            <a:off x="914400" y="4800600"/>
            <a:ext cx="8869680" cy="8686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r>
              <a:rPr lang="en-US" sz="1350" dirty="0">
                <a:solidFill>
                  <a:srgbClr val="5E587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Clients train retriever embeddings on local query-reference pairs.</a:t>
            </a:r>
            <a:endParaRPr lang="en-US" sz="1350" dirty="0"/>
          </a:p>
          <a:p>
            <a:r>
              <a:rPr lang="en-US" sz="1350" dirty="0">
                <a:solidFill>
                  <a:srgbClr val="5E587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server aggregates model updates instead of collecting private data.</a:t>
            </a:r>
            <a:endParaRPr lang="en-US" sz="1350" dirty="0"/>
          </a:p>
          <a:p>
            <a:r>
              <a:rPr lang="en-US" sz="1350" dirty="0">
                <a:solidFill>
                  <a:srgbClr val="5E587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Cross-client knowledge can help under data scarcity and Non-IID distributions.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960352" y="0"/>
            <a:ext cx="228600" cy="6858000"/>
          </a:xfrm>
          <a:prstGeom prst="rect">
            <a:avLst/>
          </a:prstGeom>
          <a:solidFill>
            <a:srgbClr val="F4F0FF">
              <a:alpha val="82000"/>
            </a:srgbClr>
          </a:solidFill>
          <a:ln w="12700">
            <a:solidFill>
              <a:srgbClr val="F4F0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905488" y="0"/>
            <a:ext cx="36576" cy="6858000"/>
          </a:xfrm>
          <a:prstGeom prst="rect">
            <a:avLst/>
          </a:prstGeom>
          <a:solidFill>
            <a:srgbClr val="C7B7FF">
              <a:alpha val="62000"/>
            </a:srgbClr>
          </a:solidFill>
          <a:ln w="12700">
            <a:solidFill>
              <a:srgbClr val="C7B7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6355080"/>
            <a:ext cx="11109960" cy="0"/>
          </a:xfrm>
          <a:prstGeom prst="line">
            <a:avLst/>
          </a:prstGeom>
          <a:noFill/>
          <a:ln w="12700">
            <a:solidFill>
              <a:srgbClr val="E9E1FF">
                <a:alpha val="9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39165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A748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Related Work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210544" y="6345936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D36D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58368" y="41148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D36D8"/>
                </a:solidFill>
              </a:rPr>
              <a:t>RELATED WORK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21792" y="658368"/>
            <a:ext cx="7726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411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Existing Privacy-Oriented RAG Directions</a:t>
            </a:r>
            <a:endParaRPr lang="en-US" sz="2500" dirty="0"/>
          </a:p>
        </p:txBody>
      </p:sp>
      <p:sp>
        <p:nvSpPr>
          <p:cNvPr id="9" name="Shape 7"/>
          <p:cNvSpPr/>
          <p:nvPr/>
        </p:nvSpPr>
        <p:spPr>
          <a:xfrm>
            <a:off x="658368" y="1261872"/>
            <a:ext cx="960120" cy="0"/>
          </a:xfrm>
          <a:prstGeom prst="line">
            <a:avLst/>
          </a:prstGeom>
          <a:noFill/>
          <a:ln w="38100">
            <a:solidFill>
              <a:srgbClr val="6D36D8"/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749808" y="1572768"/>
            <a:ext cx="274320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8D0E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96112" y="1719072"/>
            <a:ext cx="164592" cy="164592"/>
          </a:xfrm>
          <a:prstGeom prst="roundRect">
            <a:avLst>
              <a:gd name="adj" fmla="val 22222"/>
            </a:avLst>
          </a:prstGeom>
          <a:solidFill>
            <a:srgbClr val="6D36D8"/>
          </a:solidFill>
          <a:ln w="12700">
            <a:solidFill>
              <a:srgbClr val="6D36D8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88720" y="1682496"/>
            <a:ext cx="2176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41126"/>
                </a:solidFill>
              </a:rPr>
              <a:t>DPRAG</a:t>
            </a:r>
            <a:endParaRPr lang="en-US" sz="1220" dirty="0"/>
          </a:p>
        </p:txBody>
      </p:sp>
      <p:sp>
        <p:nvSpPr>
          <p:cNvPr id="13" name="Text 11"/>
          <p:cNvSpPr/>
          <p:nvPr/>
        </p:nvSpPr>
        <p:spPr>
          <a:xfrm>
            <a:off x="914400" y="2084832"/>
            <a:ext cx="2414016" cy="12984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E5870"/>
                </a:solidFill>
              </a:rPr>
              <a:t>Adds differential privacy noise at inference time. It reduces leakage risk, but privacy budget can limit generation length and accuracy.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0" y="1572768"/>
            <a:ext cx="274320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8D0E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803904" y="1719072"/>
            <a:ext cx="164592" cy="164592"/>
          </a:xfrm>
          <a:prstGeom prst="roundRect">
            <a:avLst>
              <a:gd name="adj" fmla="val 22222"/>
            </a:avLst>
          </a:prstGeom>
          <a:solidFill>
            <a:srgbClr val="2D74FF"/>
          </a:solidFill>
          <a:ln w="12700">
            <a:solidFill>
              <a:srgbClr val="2D74F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096512" y="1682496"/>
            <a:ext cx="2176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41126"/>
                </a:solidFill>
              </a:rPr>
              <a:t>GraphRAG</a:t>
            </a:r>
            <a:endParaRPr lang="en-US" sz="1220" dirty="0"/>
          </a:p>
        </p:txBody>
      </p:sp>
      <p:sp>
        <p:nvSpPr>
          <p:cNvPr id="17" name="Text 15"/>
          <p:cNvSpPr/>
          <p:nvPr/>
        </p:nvSpPr>
        <p:spPr>
          <a:xfrm>
            <a:off x="3822192" y="2084832"/>
            <a:ext cx="2414016" cy="12984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E5870"/>
                </a:solidFill>
              </a:rPr>
              <a:t>Improves global knowledge organization and multi-document reasoning via knowledge graphs, but graph construction is costly.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565392" y="1572768"/>
            <a:ext cx="274320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8D0E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711696" y="1719072"/>
            <a:ext cx="164592" cy="164592"/>
          </a:xfrm>
          <a:prstGeom prst="roundRect">
            <a:avLst>
              <a:gd name="adj" fmla="val 22222"/>
            </a:avLst>
          </a:prstGeom>
          <a:solidFill>
            <a:srgbClr val="19A974"/>
          </a:solidFill>
          <a:ln w="12700">
            <a:solidFill>
              <a:srgbClr val="19A974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04304" y="1682496"/>
            <a:ext cx="2176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41126"/>
                </a:solidFill>
              </a:rPr>
              <a:t>C-FedRAG</a:t>
            </a:r>
            <a:endParaRPr lang="en-US" sz="1220" dirty="0"/>
          </a:p>
        </p:txBody>
      </p:sp>
      <p:sp>
        <p:nvSpPr>
          <p:cNvPr id="21" name="Text 19"/>
          <p:cNvSpPr/>
          <p:nvPr/>
        </p:nvSpPr>
        <p:spPr>
          <a:xfrm>
            <a:off x="6729984" y="2084832"/>
            <a:ext cx="2414016" cy="12984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E5870"/>
                </a:solidFill>
              </a:rPr>
              <a:t>Uses trusted execution environments for hardware-level isolation, but faces hardware and memory constraints.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9473184" y="1572768"/>
            <a:ext cx="224028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8D0E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619488" y="1719072"/>
            <a:ext cx="164592" cy="164592"/>
          </a:xfrm>
          <a:prstGeom prst="roundRect">
            <a:avLst>
              <a:gd name="adj" fmla="val 22222"/>
            </a:avLst>
          </a:prstGeom>
          <a:solidFill>
            <a:srgbClr val="E24A62"/>
          </a:solidFill>
          <a:ln w="12700">
            <a:solidFill>
              <a:srgbClr val="E24A62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912096" y="1682496"/>
            <a:ext cx="1673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41126"/>
                </a:solidFill>
              </a:rPr>
              <a:t>Gap</a:t>
            </a:r>
            <a:endParaRPr lang="en-US" sz="1220" dirty="0"/>
          </a:p>
        </p:txBody>
      </p:sp>
      <p:sp>
        <p:nvSpPr>
          <p:cNvPr id="25" name="Text 23"/>
          <p:cNvSpPr/>
          <p:nvPr/>
        </p:nvSpPr>
        <p:spPr>
          <a:xfrm>
            <a:off x="9637776" y="2084832"/>
            <a:ext cx="1911096" cy="12984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E5870"/>
                </a:solidFill>
              </a:rPr>
              <a:t>These approaches do not fully solve communication-efficient collaborative retriever training over private institutional corpora.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1371600" y="4645152"/>
            <a:ext cx="9098280" cy="594360"/>
          </a:xfrm>
          <a:prstGeom prst="roundRect">
            <a:avLst>
              <a:gd name="adj" fmla="val 18462"/>
            </a:avLst>
          </a:prstGeom>
          <a:solidFill>
            <a:srgbClr val="F8F5FF"/>
          </a:solidFill>
          <a:ln w="12700">
            <a:solidFill>
              <a:srgbClr val="D8D0E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536192" y="4791456"/>
            <a:ext cx="8769096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1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Our focus: upstream federated retriever training, not only inference-side protection.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960352" y="0"/>
            <a:ext cx="228600" cy="6858000"/>
          </a:xfrm>
          <a:prstGeom prst="rect">
            <a:avLst/>
          </a:prstGeom>
          <a:solidFill>
            <a:srgbClr val="F4F0FF">
              <a:alpha val="82000"/>
            </a:srgbClr>
          </a:solidFill>
          <a:ln w="12700">
            <a:solidFill>
              <a:srgbClr val="F4F0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905488" y="0"/>
            <a:ext cx="36576" cy="6858000"/>
          </a:xfrm>
          <a:prstGeom prst="rect">
            <a:avLst/>
          </a:prstGeom>
          <a:solidFill>
            <a:srgbClr val="C7B7FF">
              <a:alpha val="62000"/>
            </a:srgbClr>
          </a:solidFill>
          <a:ln w="12700">
            <a:solidFill>
              <a:srgbClr val="C7B7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6355080"/>
            <a:ext cx="11109960" cy="0"/>
          </a:xfrm>
          <a:prstGeom prst="line">
            <a:avLst/>
          </a:prstGeom>
          <a:noFill/>
          <a:ln w="12700">
            <a:solidFill>
              <a:srgbClr val="E9E1FF">
                <a:alpha val="9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39165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A748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Related Work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210544" y="6345936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D36D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07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58368" y="41148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D36D8"/>
                </a:solidFill>
              </a:rPr>
              <a:t>RELATED WORK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21792" y="658368"/>
            <a:ext cx="7726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411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FedE4RAG Is the Baseline Framework</a:t>
            </a:r>
            <a:endParaRPr lang="en-US" sz="2500" dirty="0"/>
          </a:p>
        </p:txBody>
      </p:sp>
      <p:sp>
        <p:nvSpPr>
          <p:cNvPr id="9" name="Shape 7"/>
          <p:cNvSpPr/>
          <p:nvPr/>
        </p:nvSpPr>
        <p:spPr>
          <a:xfrm>
            <a:off x="658368" y="1261872"/>
            <a:ext cx="960120" cy="0"/>
          </a:xfrm>
          <a:prstGeom prst="line">
            <a:avLst/>
          </a:prstGeom>
          <a:noFill/>
          <a:ln w="38100">
            <a:solidFill>
              <a:srgbClr val="6D36D8"/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914400" y="1737360"/>
            <a:ext cx="2327148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8D0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78992" y="1883664"/>
            <a:ext cx="1997964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411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FL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278124" y="2066544"/>
            <a:ext cx="146304" cy="0"/>
          </a:xfrm>
          <a:prstGeom prst="line">
            <a:avLst/>
          </a:prstGeom>
          <a:noFill/>
          <a:ln w="22860">
            <a:solidFill>
              <a:srgbClr val="9A7BFF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3461004" y="1737360"/>
            <a:ext cx="2327148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8D0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25596" y="1883664"/>
            <a:ext cx="1997964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411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Knowledge Distillation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824728" y="2066544"/>
            <a:ext cx="146304" cy="0"/>
          </a:xfrm>
          <a:prstGeom prst="line">
            <a:avLst/>
          </a:prstGeom>
          <a:noFill/>
          <a:ln w="22860">
            <a:solidFill>
              <a:srgbClr val="9A7BFF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007608" y="1737360"/>
            <a:ext cx="2327148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8D0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72200" y="1883664"/>
            <a:ext cx="1997964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411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Homomorphic Encryption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371332" y="2066544"/>
            <a:ext cx="146304" cy="0"/>
          </a:xfrm>
          <a:prstGeom prst="line">
            <a:avLst/>
          </a:prstGeom>
          <a:noFill/>
          <a:ln w="22860">
            <a:solidFill>
              <a:srgbClr val="9A7BFF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8554212" y="1737360"/>
            <a:ext cx="2327148" cy="658368"/>
          </a:xfrm>
          <a:prstGeom prst="roundRect">
            <a:avLst>
              <a:gd name="adj" fmla="val 16667"/>
            </a:avLst>
          </a:prstGeom>
          <a:solidFill>
            <a:srgbClr val="6D36D8"/>
          </a:solidFill>
          <a:ln w="12700">
            <a:solidFill>
              <a:srgbClr val="6D36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718804" y="1883664"/>
            <a:ext cx="1997964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Private RAG Retriever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914400" y="3063240"/>
            <a:ext cx="5486400" cy="18288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r>
              <a:rPr lang="en-US" sz="1420" dirty="0">
                <a:solidFill>
                  <a:srgbClr val="5E587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FedE4RAG combines federated learning, knowledge distillation, and homomorphic encryption.</a:t>
            </a:r>
            <a:endParaRPr lang="en-US" sz="1420" dirty="0"/>
          </a:p>
          <a:p>
            <a:r>
              <a:rPr lang="en-US" sz="1420" dirty="0">
                <a:solidFill>
                  <a:srgbClr val="5E587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Local retrievers learn from private query-reference data while aligning with a server-side teacher signal.</a:t>
            </a:r>
            <a:endParaRPr lang="en-US" sz="1420" dirty="0"/>
          </a:p>
          <a:p>
            <a:r>
              <a:rPr lang="en-US" sz="1420" dirty="0">
                <a:solidFill>
                  <a:srgbClr val="5E587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It is a strong starting point for privacy-preserving vertical RAG.</a:t>
            </a:r>
            <a:endParaRPr lang="en-US" sz="1420" dirty="0"/>
          </a:p>
        </p:txBody>
      </p:sp>
      <p:sp>
        <p:nvSpPr>
          <p:cNvPr id="22" name="Shape 20"/>
          <p:cNvSpPr/>
          <p:nvPr/>
        </p:nvSpPr>
        <p:spPr>
          <a:xfrm>
            <a:off x="6949440" y="2889504"/>
            <a:ext cx="406908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8D0E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095744" y="3035808"/>
            <a:ext cx="164592" cy="164592"/>
          </a:xfrm>
          <a:prstGeom prst="roundRect">
            <a:avLst>
              <a:gd name="adj" fmla="val 22222"/>
            </a:avLst>
          </a:prstGeom>
          <a:solidFill>
            <a:srgbClr val="E24A62"/>
          </a:solidFill>
          <a:ln w="12700">
            <a:solidFill>
              <a:srgbClr val="E24A62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88352" y="2999232"/>
            <a:ext cx="3502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41126"/>
                </a:solidFill>
              </a:rPr>
              <a:t>Limitation</a:t>
            </a:r>
            <a:endParaRPr lang="en-US" sz="1220" dirty="0"/>
          </a:p>
        </p:txBody>
      </p:sp>
      <p:sp>
        <p:nvSpPr>
          <p:cNvPr id="25" name="Text 23"/>
          <p:cNvSpPr/>
          <p:nvPr/>
        </p:nvSpPr>
        <p:spPr>
          <a:xfrm>
            <a:off x="7114032" y="3401568"/>
            <a:ext cx="3739896" cy="10241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E5870"/>
                </a:solidFill>
              </a:rPr>
              <a:t>The default communication pattern still resembles conventional FL: clients frequently upload full embedding model parameters or full gradient updates.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960352" y="0"/>
            <a:ext cx="228600" cy="6858000"/>
          </a:xfrm>
          <a:prstGeom prst="rect">
            <a:avLst/>
          </a:prstGeom>
          <a:solidFill>
            <a:srgbClr val="F4F0FF">
              <a:alpha val="82000"/>
            </a:srgbClr>
          </a:solidFill>
          <a:ln w="12700">
            <a:solidFill>
              <a:srgbClr val="F4F0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905488" y="0"/>
            <a:ext cx="36576" cy="6858000"/>
          </a:xfrm>
          <a:prstGeom prst="rect">
            <a:avLst/>
          </a:prstGeom>
          <a:solidFill>
            <a:srgbClr val="C7B7FF">
              <a:alpha val="62000"/>
            </a:srgbClr>
          </a:solidFill>
          <a:ln w="12700">
            <a:solidFill>
              <a:srgbClr val="C7B7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6355080"/>
            <a:ext cx="11109960" cy="0"/>
          </a:xfrm>
          <a:prstGeom prst="line">
            <a:avLst/>
          </a:prstGeom>
          <a:noFill/>
          <a:ln w="12700">
            <a:solidFill>
              <a:srgbClr val="E9E1FF">
                <a:alpha val="9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39165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A748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Current Challenges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210544" y="6345936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D36D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08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58368" y="41148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D36D8"/>
                </a:solidFill>
              </a:rPr>
              <a:t>CURRENT CHALLENGES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21792" y="658368"/>
            <a:ext cx="7726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411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Full Upload Becomes the Bottleneck</a:t>
            </a:r>
            <a:endParaRPr lang="en-US" sz="2500" dirty="0"/>
          </a:p>
        </p:txBody>
      </p:sp>
      <p:sp>
        <p:nvSpPr>
          <p:cNvPr id="9" name="Shape 7"/>
          <p:cNvSpPr/>
          <p:nvPr/>
        </p:nvSpPr>
        <p:spPr>
          <a:xfrm>
            <a:off x="658368" y="1261872"/>
            <a:ext cx="960120" cy="0"/>
          </a:xfrm>
          <a:prstGeom prst="line">
            <a:avLst/>
          </a:prstGeom>
          <a:noFill/>
          <a:ln w="38100">
            <a:solidFill>
              <a:srgbClr val="6D36D8"/>
            </a:solidFill>
            <a:prstDash val="solid"/>
            <a:headEnd type="none"/>
            <a:tailEnd type="none"/>
          </a:ln>
        </p:spPr>
      </p:sp>
      <p:sp>
        <p:nvSpPr>
          <p:cNvPr id="10" name="Text 8"/>
          <p:cNvSpPr/>
          <p:nvPr/>
        </p:nvSpPr>
        <p:spPr>
          <a:xfrm>
            <a:off x="786384" y="1600200"/>
            <a:ext cx="5577840" cy="35204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r>
              <a:rPr lang="en-US" sz="1440" dirty="0">
                <a:solidFill>
                  <a:srgbClr val="5E587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Embedding models such as BERT/BGE-style retrievers contain many trainable parameters.</a:t>
            </a:r>
            <a:endParaRPr lang="en-US" sz="1440" dirty="0"/>
          </a:p>
          <a:p>
            <a:r>
              <a:rPr lang="en-US" sz="1440" dirty="0">
                <a:solidFill>
                  <a:srgbClr val="5E587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Communication grows with model size, client count, and training rounds.</a:t>
            </a:r>
            <a:endParaRPr lang="en-US" sz="1440" dirty="0"/>
          </a:p>
          <a:p>
            <a:r>
              <a:rPr lang="en-US" sz="1440" dirty="0">
                <a:solidFill>
                  <a:srgbClr val="5E587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Homomorphic encryption strengthens protection, but encrypted payloads and aggregation are more expensive.</a:t>
            </a:r>
            <a:endParaRPr lang="en-US" sz="1440" dirty="0"/>
          </a:p>
          <a:p>
            <a:r>
              <a:rPr lang="en-US" sz="1440" dirty="0">
                <a:solidFill>
                  <a:srgbClr val="5E587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Many parameter blocks may contribute little in a given round, making full upload redundant.</a:t>
            </a:r>
            <a:endParaRPr lang="en-US" sz="1440" dirty="0"/>
          </a:p>
        </p:txBody>
      </p:sp>
      <p:sp>
        <p:nvSpPr>
          <p:cNvPr id="11" name="Text 9"/>
          <p:cNvSpPr/>
          <p:nvPr/>
        </p:nvSpPr>
        <p:spPr>
          <a:xfrm>
            <a:off x="6720840" y="182880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141126"/>
                </a:solidFill>
              </a:rPr>
              <a:t>Full upload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8595360" y="1874520"/>
            <a:ext cx="3291840" cy="109728"/>
          </a:xfrm>
          <a:prstGeom prst="rect">
            <a:avLst/>
          </a:prstGeom>
          <a:solidFill>
            <a:srgbClr val="E24A62"/>
          </a:solidFill>
          <a:ln w="12700">
            <a:solidFill>
              <a:srgbClr val="E24A62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20840" y="254203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141126"/>
                </a:solidFill>
              </a:rPr>
              <a:t>Selective upload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8595360" y="2587752"/>
            <a:ext cx="3291840" cy="109728"/>
          </a:xfrm>
          <a:prstGeom prst="rect">
            <a:avLst/>
          </a:prstGeom>
          <a:solidFill>
            <a:srgbClr val="F4F0FF"/>
          </a:solidFill>
          <a:ln w="12700">
            <a:solidFill>
              <a:srgbClr val="F4F0FF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595360" y="2606040"/>
            <a:ext cx="822960" cy="73152"/>
          </a:xfrm>
          <a:prstGeom prst="rect">
            <a:avLst/>
          </a:prstGeom>
          <a:solidFill>
            <a:srgbClr val="6D36D8"/>
          </a:solidFill>
          <a:ln w="12700">
            <a:solidFill>
              <a:srgbClr val="6D36D8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20840" y="325526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141126"/>
                </a:solidFill>
              </a:rPr>
              <a:t>With HE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8595360" y="3300984"/>
            <a:ext cx="3291840" cy="109728"/>
          </a:xfrm>
          <a:prstGeom prst="rect">
            <a:avLst/>
          </a:prstGeom>
          <a:solidFill>
            <a:srgbClr val="E24A62"/>
          </a:solidFill>
          <a:ln w="12700">
            <a:solidFill>
              <a:srgbClr val="E24A62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20840" y="396849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141126"/>
                </a:solidFill>
              </a:rPr>
              <a:t>Selected HE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8595360" y="4014216"/>
            <a:ext cx="3291840" cy="109728"/>
          </a:xfrm>
          <a:prstGeom prst="rect">
            <a:avLst/>
          </a:prstGeom>
          <a:solidFill>
            <a:srgbClr val="F4F0FF"/>
          </a:solidFill>
          <a:ln w="12700">
            <a:solidFill>
              <a:srgbClr val="F4F0FF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95360" y="4032504"/>
            <a:ext cx="822960" cy="73152"/>
          </a:xfrm>
          <a:prstGeom prst="rect">
            <a:avLst/>
          </a:prstGeom>
          <a:solidFill>
            <a:srgbClr val="6D36D8"/>
          </a:solidFill>
          <a:ln w="12700">
            <a:solidFill>
              <a:srgbClr val="6D36D8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20840" y="4681728"/>
            <a:ext cx="3794760" cy="566928"/>
          </a:xfrm>
          <a:prstGeom prst="roundRect">
            <a:avLst>
              <a:gd name="adj" fmla="val 19355"/>
            </a:avLst>
          </a:prstGeom>
          <a:solidFill>
            <a:srgbClr val="6D36D8"/>
          </a:solidFill>
          <a:ln w="12700">
            <a:solidFill>
              <a:srgbClr val="6D36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85432" y="4828032"/>
            <a:ext cx="3465576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Goal: cut payload without damaging downstream RAG quality.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960352" y="0"/>
            <a:ext cx="228600" cy="6858000"/>
          </a:xfrm>
          <a:prstGeom prst="rect">
            <a:avLst/>
          </a:prstGeom>
          <a:solidFill>
            <a:srgbClr val="F4F0FF">
              <a:alpha val="82000"/>
            </a:srgbClr>
          </a:solidFill>
          <a:ln w="12700">
            <a:solidFill>
              <a:srgbClr val="F4F0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905488" y="0"/>
            <a:ext cx="36576" cy="6858000"/>
          </a:xfrm>
          <a:prstGeom prst="rect">
            <a:avLst/>
          </a:prstGeom>
          <a:solidFill>
            <a:srgbClr val="C7B7FF">
              <a:alpha val="62000"/>
            </a:srgbClr>
          </a:solidFill>
          <a:ln w="12700">
            <a:solidFill>
              <a:srgbClr val="C7B7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6355080"/>
            <a:ext cx="11109960" cy="0"/>
          </a:xfrm>
          <a:prstGeom prst="line">
            <a:avLst/>
          </a:prstGeom>
          <a:noFill/>
          <a:ln w="12700">
            <a:solidFill>
              <a:srgbClr val="E9E1FF">
                <a:alpha val="9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39165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A748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Current Challenges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210544" y="6345936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D36D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09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58368" y="41148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D36D8"/>
                </a:solidFill>
              </a:rPr>
              <a:t>CURRENT CHALLENGES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21792" y="658368"/>
            <a:ext cx="7726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411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Problem Statement</a:t>
            </a:r>
            <a:endParaRPr lang="en-US" sz="2500" dirty="0"/>
          </a:p>
        </p:txBody>
      </p:sp>
      <p:sp>
        <p:nvSpPr>
          <p:cNvPr id="9" name="Shape 7"/>
          <p:cNvSpPr/>
          <p:nvPr/>
        </p:nvSpPr>
        <p:spPr>
          <a:xfrm>
            <a:off x="658368" y="1261872"/>
            <a:ext cx="960120" cy="0"/>
          </a:xfrm>
          <a:prstGeom prst="line">
            <a:avLst/>
          </a:prstGeom>
          <a:noFill/>
          <a:ln w="38100">
            <a:solidFill>
              <a:srgbClr val="6D36D8"/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868680" y="1600200"/>
            <a:ext cx="4663440" cy="2468880"/>
          </a:xfrm>
          <a:prstGeom prst="roundRect">
            <a:avLst>
              <a:gd name="adj" fmla="val 3704"/>
            </a:avLst>
          </a:prstGeom>
          <a:solidFill>
            <a:srgbClr val="FBFAFF"/>
          </a:solidFill>
          <a:ln w="12700">
            <a:solidFill>
              <a:srgbClr val="D8D0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88136" y="1819656"/>
            <a:ext cx="4224528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411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Full update: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411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Delta_i^t = theta_i^t - theta^t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411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Selective update: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411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Delta_{i,U}^t = { Delta_{i,b}^t | b in U_i^t }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080760" y="1737360"/>
            <a:ext cx="4572000" cy="1298448"/>
          </a:xfrm>
          <a:prstGeom prst="roundRect">
            <a:avLst>
              <a:gd name="adj" fmla="val 8451"/>
            </a:avLst>
          </a:prstGeom>
          <a:solidFill>
            <a:srgbClr val="FFFFFF"/>
          </a:solidFill>
          <a:ln w="12700">
            <a:solidFill>
              <a:srgbClr val="D8D0E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27064" y="1883664"/>
            <a:ext cx="164592" cy="164592"/>
          </a:xfrm>
          <a:prstGeom prst="roundRect">
            <a:avLst>
              <a:gd name="adj" fmla="val 22222"/>
            </a:avLst>
          </a:prstGeom>
          <a:solidFill>
            <a:srgbClr val="6D36D8"/>
          </a:solidFill>
          <a:ln w="12700">
            <a:solidFill>
              <a:srgbClr val="6D36D8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19672" y="1847088"/>
            <a:ext cx="4005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41126"/>
                </a:solidFill>
              </a:rPr>
              <a:t>Key challenge</a:t>
            </a:r>
            <a:endParaRPr lang="en-US" sz="1220" dirty="0"/>
          </a:p>
        </p:txBody>
      </p:sp>
      <p:sp>
        <p:nvSpPr>
          <p:cNvPr id="15" name="Text 13"/>
          <p:cNvSpPr/>
          <p:nvPr/>
        </p:nvSpPr>
        <p:spPr>
          <a:xfrm>
            <a:off x="6245352" y="2249424"/>
            <a:ext cx="4242816" cy="6766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E5870"/>
                </a:solidFill>
              </a:rPr>
              <a:t>Identify and upload the most important parameter-block updates while preserving privacy and downstream retrieval performance.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309360" y="3547872"/>
            <a:ext cx="4160520" cy="1463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r>
              <a:rPr lang="en-US" sz="1350" dirty="0">
                <a:solidFill>
                  <a:srgbClr val="5E587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Importance differs by client, round, and model block.</a:t>
            </a:r>
            <a:endParaRPr lang="en-US" sz="1350" dirty="0"/>
          </a:p>
          <a:p>
            <a:r>
              <a:rPr lang="en-US" sz="1350" dirty="0">
                <a:solidFill>
                  <a:srgbClr val="5E587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Random sparsity can miss task-relevant semantic layers.</a:t>
            </a:r>
            <a:endParaRPr lang="en-US" sz="1350" dirty="0"/>
          </a:p>
          <a:p>
            <a:r>
              <a:rPr lang="en-US" sz="1350" dirty="0">
                <a:solidFill>
                  <a:srgbClr val="5E587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Fixed compression rules may ignore client heterogeneity.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960352" y="0"/>
            <a:ext cx="228600" cy="6858000"/>
          </a:xfrm>
          <a:prstGeom prst="rect">
            <a:avLst/>
          </a:prstGeom>
          <a:solidFill>
            <a:srgbClr val="F4F0FF">
              <a:alpha val="82000"/>
            </a:srgbClr>
          </a:solidFill>
          <a:ln w="12700">
            <a:solidFill>
              <a:srgbClr val="F4F0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905488" y="0"/>
            <a:ext cx="36576" cy="6858000"/>
          </a:xfrm>
          <a:prstGeom prst="rect">
            <a:avLst/>
          </a:prstGeom>
          <a:solidFill>
            <a:srgbClr val="C7B7FF">
              <a:alpha val="62000"/>
            </a:srgbClr>
          </a:solidFill>
          <a:ln w="12700">
            <a:solidFill>
              <a:srgbClr val="C7B7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6355080"/>
            <a:ext cx="11109960" cy="0"/>
          </a:xfrm>
          <a:prstGeom prst="line">
            <a:avLst/>
          </a:prstGeom>
          <a:noFill/>
          <a:ln w="12700">
            <a:solidFill>
              <a:srgbClr val="E9E1FF">
                <a:alpha val="9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39165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A748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Research Objectives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210544" y="6345936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D36D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10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58368" y="41148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D36D8"/>
                </a:solidFill>
              </a:rPr>
              <a:t>RESEARCH OBJECTIVES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21792" y="658368"/>
            <a:ext cx="7726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411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Research Objectives and Contributions</a:t>
            </a:r>
            <a:endParaRPr lang="en-US" sz="2500" dirty="0"/>
          </a:p>
        </p:txBody>
      </p:sp>
      <p:sp>
        <p:nvSpPr>
          <p:cNvPr id="9" name="Shape 7"/>
          <p:cNvSpPr/>
          <p:nvPr/>
        </p:nvSpPr>
        <p:spPr>
          <a:xfrm>
            <a:off x="658368" y="1261872"/>
            <a:ext cx="960120" cy="0"/>
          </a:xfrm>
          <a:prstGeom prst="line">
            <a:avLst/>
          </a:prstGeom>
          <a:noFill/>
          <a:ln w="38100">
            <a:solidFill>
              <a:srgbClr val="6D36D8"/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786384" y="1600200"/>
            <a:ext cx="338328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8D0E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32688" y="1746504"/>
            <a:ext cx="164592" cy="164592"/>
          </a:xfrm>
          <a:prstGeom prst="roundRect">
            <a:avLst>
              <a:gd name="adj" fmla="val 22222"/>
            </a:avLst>
          </a:prstGeom>
          <a:solidFill>
            <a:srgbClr val="6D36D8"/>
          </a:solidFill>
          <a:ln w="12700">
            <a:solidFill>
              <a:srgbClr val="6D36D8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25296" y="1709928"/>
            <a:ext cx="2816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41126"/>
                </a:solidFill>
              </a:rPr>
              <a:t>1. Dynamic importance</a:t>
            </a:r>
            <a:endParaRPr lang="en-US" sz="1220" dirty="0"/>
          </a:p>
        </p:txBody>
      </p:sp>
      <p:sp>
        <p:nvSpPr>
          <p:cNvPr id="13" name="Text 11"/>
          <p:cNvSpPr/>
          <p:nvPr/>
        </p:nvSpPr>
        <p:spPr>
          <a:xfrm>
            <a:off x="950976" y="2112264"/>
            <a:ext cx="3054096" cy="13898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E5870"/>
                </a:solidFill>
              </a:rPr>
              <a:t>Learn client- and block-aware scores from client embeddings, block embeddings, and update statistics.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407408" y="1600200"/>
            <a:ext cx="338328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8D0E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53712" y="1746504"/>
            <a:ext cx="164592" cy="164592"/>
          </a:xfrm>
          <a:prstGeom prst="roundRect">
            <a:avLst>
              <a:gd name="adj" fmla="val 22222"/>
            </a:avLst>
          </a:prstGeom>
          <a:solidFill>
            <a:srgbClr val="2D74FF"/>
          </a:solidFill>
          <a:ln w="12700">
            <a:solidFill>
              <a:srgbClr val="2D74F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0" y="1709928"/>
            <a:ext cx="2816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41126"/>
                </a:solidFill>
              </a:rPr>
              <a:t>2. Selective upload</a:t>
            </a:r>
            <a:endParaRPr lang="en-US" sz="1220" dirty="0"/>
          </a:p>
        </p:txBody>
      </p:sp>
      <p:sp>
        <p:nvSpPr>
          <p:cNvPr id="17" name="Text 15"/>
          <p:cNvSpPr/>
          <p:nvPr/>
        </p:nvSpPr>
        <p:spPr>
          <a:xfrm>
            <a:off x="4572000" y="2112264"/>
            <a:ext cx="3054096" cy="13898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E5870"/>
                </a:solidFill>
              </a:rPr>
              <a:t>Replace full updates with parameter-block top-K upload while keeping local FedRAG training objectives unchanged.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028432" y="1600200"/>
            <a:ext cx="338328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8D0E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174736" y="1746504"/>
            <a:ext cx="164592" cy="164592"/>
          </a:xfrm>
          <a:prstGeom prst="roundRect">
            <a:avLst>
              <a:gd name="adj" fmla="val 22222"/>
            </a:avLst>
          </a:prstGeom>
          <a:solidFill>
            <a:srgbClr val="19A974"/>
          </a:solidFill>
          <a:ln w="12700">
            <a:solidFill>
              <a:srgbClr val="19A974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67344" y="1709928"/>
            <a:ext cx="2816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41126"/>
                </a:solidFill>
              </a:rPr>
              <a:t>3. End-to-end evaluation</a:t>
            </a:r>
            <a:endParaRPr lang="en-US" sz="1220" dirty="0"/>
          </a:p>
        </p:txBody>
      </p:sp>
      <p:sp>
        <p:nvSpPr>
          <p:cNvPr id="21" name="Text 19"/>
          <p:cNvSpPr/>
          <p:nvPr/>
        </p:nvSpPr>
        <p:spPr>
          <a:xfrm>
            <a:off x="8193024" y="2112264"/>
            <a:ext cx="3054096" cy="13898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E5870"/>
                </a:solidFill>
              </a:rPr>
              <a:t>Connect upstream communication compression to downstream RAG retrieval and generation metrics.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1325880" y="4681728"/>
            <a:ext cx="9464040" cy="585216"/>
          </a:xfrm>
          <a:prstGeom prst="roundRect">
            <a:avLst>
              <a:gd name="adj" fmla="val 18750"/>
            </a:avLst>
          </a:prstGeom>
          <a:solidFill>
            <a:srgbClr val="F8F5FF"/>
          </a:solidFill>
          <a:ln w="12700">
            <a:solidFill>
              <a:srgbClr val="D8D0E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90472" y="4828032"/>
            <a:ext cx="9134856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1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Reframing pFedLA: from a personalization generator to a communication controller.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960352" y="0"/>
            <a:ext cx="228600" cy="6858000"/>
          </a:xfrm>
          <a:prstGeom prst="rect">
            <a:avLst/>
          </a:prstGeom>
          <a:solidFill>
            <a:srgbClr val="F4F0FF">
              <a:alpha val="82000"/>
            </a:srgbClr>
          </a:solidFill>
          <a:ln w="12700">
            <a:solidFill>
              <a:srgbClr val="F4F0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905488" y="0"/>
            <a:ext cx="36576" cy="6858000"/>
          </a:xfrm>
          <a:prstGeom prst="rect">
            <a:avLst/>
          </a:prstGeom>
          <a:solidFill>
            <a:srgbClr val="C7B7FF">
              <a:alpha val="62000"/>
            </a:srgbClr>
          </a:solidFill>
          <a:ln w="12700">
            <a:solidFill>
              <a:srgbClr val="C7B7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6355080"/>
            <a:ext cx="11109960" cy="0"/>
          </a:xfrm>
          <a:prstGeom prst="line">
            <a:avLst/>
          </a:prstGeom>
          <a:noFill/>
          <a:ln w="12700">
            <a:solidFill>
              <a:srgbClr val="E9E1FF">
                <a:alpha val="9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39165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A748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Method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210544" y="6345936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D36D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11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58368" y="41148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D36D8"/>
                </a:solidFill>
              </a:rPr>
              <a:t>THE METHOD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21792" y="658368"/>
            <a:ext cx="7726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411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PPRAG-FL: Overall Workflow</a:t>
            </a:r>
            <a:endParaRPr lang="en-US" sz="2500" dirty="0"/>
          </a:p>
        </p:txBody>
      </p:sp>
      <p:sp>
        <p:nvSpPr>
          <p:cNvPr id="9" name="Shape 7"/>
          <p:cNvSpPr/>
          <p:nvPr/>
        </p:nvSpPr>
        <p:spPr>
          <a:xfrm>
            <a:off x="658368" y="1261872"/>
            <a:ext cx="960120" cy="0"/>
          </a:xfrm>
          <a:prstGeom prst="line">
            <a:avLst/>
          </a:prstGeom>
          <a:noFill/>
          <a:ln w="38100">
            <a:solidFill>
              <a:srgbClr val="6D36D8"/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658368" y="1664208"/>
            <a:ext cx="2004365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8D0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1810512"/>
            <a:ext cx="1675181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411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Server sends model + mask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699309" y="1993392"/>
            <a:ext cx="146304" cy="0"/>
          </a:xfrm>
          <a:prstGeom prst="line">
            <a:avLst/>
          </a:prstGeom>
          <a:noFill/>
          <a:ln w="22860">
            <a:solidFill>
              <a:srgbClr val="9A7BFF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2882189" y="1664208"/>
            <a:ext cx="2004365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8D0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046781" y="1810512"/>
            <a:ext cx="1675181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411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Client trains full local objective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923130" y="1993392"/>
            <a:ext cx="146304" cy="0"/>
          </a:xfrm>
          <a:prstGeom prst="line">
            <a:avLst/>
          </a:prstGeom>
          <a:noFill/>
          <a:ln w="22860">
            <a:solidFill>
              <a:srgbClr val="9A7BFF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106010" y="1664208"/>
            <a:ext cx="2004365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8D0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70602" y="1810512"/>
            <a:ext cx="1675181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411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Client uploads selected deltas + stats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146950" y="1993392"/>
            <a:ext cx="146304" cy="0"/>
          </a:xfrm>
          <a:prstGeom prst="line">
            <a:avLst/>
          </a:prstGeom>
          <a:noFill/>
          <a:ln w="22860">
            <a:solidFill>
              <a:srgbClr val="9A7BFF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329830" y="1664208"/>
            <a:ext cx="2004365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8D0E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94422" y="1810512"/>
            <a:ext cx="1675181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411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Sparse aggregation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9370771" y="1993392"/>
            <a:ext cx="146304" cy="0"/>
          </a:xfrm>
          <a:prstGeom prst="line">
            <a:avLst/>
          </a:prstGeom>
          <a:noFill/>
          <a:ln w="22860">
            <a:solidFill>
              <a:srgbClr val="9A7BFF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9553651" y="1664208"/>
            <a:ext cx="2004365" cy="658368"/>
          </a:xfrm>
          <a:prstGeom prst="roundRect">
            <a:avLst>
              <a:gd name="adj" fmla="val 16667"/>
            </a:avLst>
          </a:prstGeom>
          <a:solidFill>
            <a:srgbClr val="6D36D8"/>
          </a:solidFill>
          <a:ln w="12700">
            <a:solidFill>
              <a:srgbClr val="6D36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718243" y="1810512"/>
            <a:ext cx="1675181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RAG evaluation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960120" y="3246120"/>
            <a:ext cx="5852160" cy="20574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r>
              <a:rPr lang="en-US" sz="1400" dirty="0">
                <a:solidFill>
                  <a:srgbClr val="5E587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Warm-up rounds collect initial block statistics with full updates.</a:t>
            </a:r>
            <a:endParaRPr lang="en-US" sz="1400" dirty="0"/>
          </a:p>
          <a:p>
            <a:r>
              <a:rPr lang="en-US" sz="1400" dirty="0">
                <a:solidFill>
                  <a:srgbClr val="5E587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After warm-up, the hypernetwork predicts a top-K upload set per client.</a:t>
            </a:r>
            <a:endParaRPr lang="en-US" sz="1400" dirty="0"/>
          </a:p>
          <a:p>
            <a:r>
              <a:rPr lang="en-US" sz="1400" dirty="0">
                <a:solidFill>
                  <a:srgbClr val="5E587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server updates only blocks that were uploaded by at least one selected client.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7452360" y="3337560"/>
            <a:ext cx="3520440" cy="1353312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D8D0E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598664" y="3483864"/>
            <a:ext cx="164592" cy="164592"/>
          </a:xfrm>
          <a:prstGeom prst="roundRect">
            <a:avLst>
              <a:gd name="adj" fmla="val 22222"/>
            </a:avLst>
          </a:prstGeom>
          <a:solidFill>
            <a:srgbClr val="6D36D8"/>
          </a:solidFill>
          <a:ln w="12700">
            <a:solidFill>
              <a:srgbClr val="6D36D8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891272" y="3447288"/>
            <a:ext cx="2953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41126"/>
                </a:solidFill>
              </a:rPr>
              <a:t>Design principle</a:t>
            </a:r>
            <a:endParaRPr lang="en-US" sz="1220" dirty="0"/>
          </a:p>
        </p:txBody>
      </p:sp>
      <p:sp>
        <p:nvSpPr>
          <p:cNvPr id="28" name="Text 26"/>
          <p:cNvSpPr/>
          <p:nvPr/>
        </p:nvSpPr>
        <p:spPr>
          <a:xfrm>
            <a:off x="7616952" y="3849624"/>
            <a:ext cx="3191256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E5870"/>
                </a:solidFill>
              </a:rPr>
              <a:t>Change the communication stage, not the local retriever learning objective.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960352" y="0"/>
            <a:ext cx="228600" cy="6858000"/>
          </a:xfrm>
          <a:prstGeom prst="rect">
            <a:avLst/>
          </a:prstGeom>
          <a:solidFill>
            <a:srgbClr val="F4F0FF">
              <a:alpha val="82000"/>
            </a:srgbClr>
          </a:solidFill>
          <a:ln w="12700">
            <a:solidFill>
              <a:srgbClr val="F4F0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905488" y="0"/>
            <a:ext cx="36576" cy="6858000"/>
          </a:xfrm>
          <a:prstGeom prst="rect">
            <a:avLst/>
          </a:prstGeom>
          <a:solidFill>
            <a:srgbClr val="C7B7FF">
              <a:alpha val="62000"/>
            </a:srgbClr>
          </a:solidFill>
          <a:ln w="12700">
            <a:solidFill>
              <a:srgbClr val="C7B7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6355080"/>
            <a:ext cx="11109960" cy="0"/>
          </a:xfrm>
          <a:prstGeom prst="line">
            <a:avLst/>
          </a:prstGeom>
          <a:noFill/>
          <a:ln w="12700">
            <a:solidFill>
              <a:srgbClr val="E9E1FF">
                <a:alpha val="9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39165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A748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Method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210544" y="6345936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D36D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12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58368" y="41148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D36D8"/>
                </a:solidFill>
              </a:rPr>
              <a:t>THE METHOD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21792" y="658368"/>
            <a:ext cx="7726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411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Local Training Objective Is Preserved</a:t>
            </a:r>
            <a:endParaRPr lang="en-US" sz="2500" dirty="0"/>
          </a:p>
        </p:txBody>
      </p:sp>
      <p:sp>
        <p:nvSpPr>
          <p:cNvPr id="9" name="Shape 7"/>
          <p:cNvSpPr/>
          <p:nvPr/>
        </p:nvSpPr>
        <p:spPr>
          <a:xfrm>
            <a:off x="658368" y="1261872"/>
            <a:ext cx="960120" cy="0"/>
          </a:xfrm>
          <a:prstGeom prst="line">
            <a:avLst/>
          </a:prstGeom>
          <a:noFill/>
          <a:ln w="38100">
            <a:solidFill>
              <a:srgbClr val="6D36D8"/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877824" y="1554480"/>
            <a:ext cx="5074920" cy="3200400"/>
          </a:xfrm>
          <a:prstGeom prst="roundRect">
            <a:avLst>
              <a:gd name="adj" fmla="val 2857"/>
            </a:avLst>
          </a:prstGeom>
          <a:solidFill>
            <a:srgbClr val="FBFAFF"/>
          </a:solidFill>
          <a:ln w="12700">
            <a:solidFill>
              <a:srgbClr val="D8D0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1773936"/>
            <a:ext cx="4636008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411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L_i = L_contrastive + lambda L_distill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411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Contrastive loss: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411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align query and reference embeddings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411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Distillation loss: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411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align local logits with server teacher logits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400800" y="1719072"/>
            <a:ext cx="4480560" cy="23774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r>
              <a:rPr lang="en-US" sz="1400" dirty="0">
                <a:solidFill>
                  <a:srgbClr val="5E587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Each client owns private data D_i with query-reference pairs (q, r).</a:t>
            </a:r>
            <a:endParaRPr lang="en-US" sz="1400" dirty="0"/>
          </a:p>
          <a:p>
            <a:r>
              <a:rPr lang="en-US" sz="1400" dirty="0">
                <a:solidFill>
                  <a:srgbClr val="5E587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Local training still optimizes retrieval matching and teacher-guided global knowledge alignment.</a:t>
            </a:r>
            <a:endParaRPr lang="en-US" sz="1400" dirty="0"/>
          </a:p>
          <a:p>
            <a:r>
              <a:rPr lang="en-US" sz="1400" dirty="0">
                <a:solidFill>
                  <a:srgbClr val="5E587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Selective upload is applied after local training, so the retrieval learning signal remains intact.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656832" y="4526280"/>
            <a:ext cx="3886200" cy="566928"/>
          </a:xfrm>
          <a:prstGeom prst="roundRect">
            <a:avLst>
              <a:gd name="adj" fmla="val 19355"/>
            </a:avLst>
          </a:prstGeom>
          <a:solidFill>
            <a:srgbClr val="F8F5FF"/>
          </a:solidFill>
          <a:ln w="12700">
            <a:solidFill>
              <a:srgbClr val="D8D0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21424" y="4672584"/>
            <a:ext cx="3557016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D36D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Privacy boundary: raw local corpora never leave the client.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960352" y="0"/>
            <a:ext cx="228600" cy="6858000"/>
          </a:xfrm>
          <a:prstGeom prst="rect">
            <a:avLst/>
          </a:prstGeom>
          <a:solidFill>
            <a:srgbClr val="F4F0FF">
              <a:alpha val="82000"/>
            </a:srgbClr>
          </a:solidFill>
          <a:ln w="12700">
            <a:solidFill>
              <a:srgbClr val="F4F0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905488" y="0"/>
            <a:ext cx="36576" cy="6858000"/>
          </a:xfrm>
          <a:prstGeom prst="rect">
            <a:avLst/>
          </a:prstGeom>
          <a:solidFill>
            <a:srgbClr val="C7B7FF">
              <a:alpha val="62000"/>
            </a:srgbClr>
          </a:solidFill>
          <a:ln w="12700">
            <a:solidFill>
              <a:srgbClr val="C7B7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6355080"/>
            <a:ext cx="11109960" cy="0"/>
          </a:xfrm>
          <a:prstGeom prst="line">
            <a:avLst/>
          </a:prstGeom>
          <a:noFill/>
          <a:ln w="12700">
            <a:solidFill>
              <a:srgbClr val="E9E1FF">
                <a:alpha val="9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39165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A748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Method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210544" y="6345936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D36D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13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58368" y="41148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D36D8"/>
                </a:solidFill>
              </a:rPr>
              <a:t>THE METHOD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21792" y="658368"/>
            <a:ext cx="7726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411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Parameter-Block Selection Avoids Fragile Element-Wise Sparsity</a:t>
            </a:r>
            <a:endParaRPr lang="en-US" sz="2500" dirty="0"/>
          </a:p>
        </p:txBody>
      </p:sp>
      <p:sp>
        <p:nvSpPr>
          <p:cNvPr id="9" name="Shape 7"/>
          <p:cNvSpPr/>
          <p:nvPr/>
        </p:nvSpPr>
        <p:spPr>
          <a:xfrm>
            <a:off x="658368" y="1261872"/>
            <a:ext cx="960120" cy="0"/>
          </a:xfrm>
          <a:prstGeom prst="line">
            <a:avLst/>
          </a:prstGeom>
          <a:noFill/>
          <a:ln w="38100">
            <a:solidFill>
              <a:srgbClr val="6D36D8"/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804672" y="1874520"/>
            <a:ext cx="1353312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12700">
            <a:solidFill>
              <a:srgbClr val="D8D0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9264" y="2020824"/>
            <a:ext cx="1024128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11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embeddings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523744" y="1874520"/>
            <a:ext cx="1353312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12700">
            <a:solidFill>
              <a:srgbClr val="D8D0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88336" y="2020824"/>
            <a:ext cx="1024128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11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layer 0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242816" y="1874520"/>
            <a:ext cx="1353312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12700">
            <a:solidFill>
              <a:srgbClr val="D8D0E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07408" y="2020824"/>
            <a:ext cx="1024128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11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layer 1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961888" y="1874520"/>
            <a:ext cx="1353312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12700">
            <a:solidFill>
              <a:srgbClr val="D8D0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26480" y="2020824"/>
            <a:ext cx="1024128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11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...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680960" y="1874520"/>
            <a:ext cx="1353312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12700">
            <a:solidFill>
              <a:srgbClr val="D8D0E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845552" y="2020824"/>
            <a:ext cx="1024128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11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layer 11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9400032" y="1874520"/>
            <a:ext cx="1353312" cy="530352"/>
          </a:xfrm>
          <a:prstGeom prst="roundRect">
            <a:avLst>
              <a:gd name="adj" fmla="val 20690"/>
            </a:avLst>
          </a:prstGeom>
          <a:solidFill>
            <a:srgbClr val="6D36D8"/>
          </a:solidFill>
          <a:ln w="12700">
            <a:solidFill>
              <a:srgbClr val="6D36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564624" y="2020824"/>
            <a:ext cx="1024128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pooler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914400" y="3337560"/>
            <a:ext cx="6035040" cy="19659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r>
              <a:rPr lang="en-US" sz="1400" dirty="0">
                <a:solidFill>
                  <a:srgbClr val="5E587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Blocks match the Transformer retriever structure and are easier to index and analyze.</a:t>
            </a:r>
            <a:endParaRPr lang="en-US" sz="1400" dirty="0"/>
          </a:p>
          <a:p>
            <a:r>
              <a:rPr lang="en-US" sz="1400" dirty="0">
                <a:solidFill>
                  <a:srgbClr val="5E587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Block-level upload reduces metadata overhead compared with unstructured parameter sparsity.</a:t>
            </a:r>
            <a:endParaRPr lang="en-US" sz="1400" dirty="0"/>
          </a:p>
          <a:p>
            <a:r>
              <a:rPr lang="en-US" sz="1400" dirty="0">
                <a:solidFill>
                  <a:srgbClr val="5E587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method can prioritize high-level semantic layers or client-specific blocks when useful.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7452360" y="3456432"/>
            <a:ext cx="3429000" cy="1170432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D8D0E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598664" y="3602736"/>
            <a:ext cx="164592" cy="164592"/>
          </a:xfrm>
          <a:prstGeom prst="roundRect">
            <a:avLst>
              <a:gd name="adj" fmla="val 22222"/>
            </a:avLst>
          </a:prstGeom>
          <a:solidFill>
            <a:srgbClr val="6D36D8"/>
          </a:solidFill>
          <a:ln w="12700">
            <a:solidFill>
              <a:srgbClr val="6D36D8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891272" y="3566160"/>
            <a:ext cx="2862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41126"/>
                </a:solidFill>
              </a:rPr>
              <a:t>Block universe</a:t>
            </a:r>
            <a:endParaRPr lang="en-US" sz="1220" dirty="0"/>
          </a:p>
        </p:txBody>
      </p:sp>
      <p:sp>
        <p:nvSpPr>
          <p:cNvPr id="26" name="Text 24"/>
          <p:cNvSpPr/>
          <p:nvPr/>
        </p:nvSpPr>
        <p:spPr>
          <a:xfrm>
            <a:off x="7616952" y="3968496"/>
            <a:ext cx="3099816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E5870"/>
                </a:solidFill>
              </a:rPr>
              <a:t>B = {embeddings, encoder.layer.0, ..., encoder.layer.11, pooler}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960352" y="0"/>
            <a:ext cx="228600" cy="6858000"/>
          </a:xfrm>
          <a:prstGeom prst="rect">
            <a:avLst/>
          </a:prstGeom>
          <a:solidFill>
            <a:srgbClr val="F4F0FF">
              <a:alpha val="82000"/>
            </a:srgbClr>
          </a:solidFill>
          <a:ln w="12700">
            <a:solidFill>
              <a:srgbClr val="F4F0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905488" y="0"/>
            <a:ext cx="36576" cy="6858000"/>
          </a:xfrm>
          <a:prstGeom prst="rect">
            <a:avLst/>
          </a:prstGeom>
          <a:solidFill>
            <a:srgbClr val="C7B7FF">
              <a:alpha val="62000"/>
            </a:srgbClr>
          </a:solidFill>
          <a:ln w="12700">
            <a:solidFill>
              <a:srgbClr val="C7B7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6355080"/>
            <a:ext cx="11109960" cy="0"/>
          </a:xfrm>
          <a:prstGeom prst="line">
            <a:avLst/>
          </a:prstGeom>
          <a:noFill/>
          <a:ln w="12700">
            <a:solidFill>
              <a:srgbClr val="E9E1FF">
                <a:alpha val="9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39165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A748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Method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210544" y="6345936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D36D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14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58368" y="41148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D36D8"/>
                </a:solidFill>
              </a:rPr>
              <a:t>THE METHOD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21792" y="658368"/>
            <a:ext cx="7726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411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Hypernetwork as an Importance Estimator</a:t>
            </a:r>
            <a:endParaRPr lang="en-US" sz="2500" dirty="0"/>
          </a:p>
        </p:txBody>
      </p:sp>
      <p:sp>
        <p:nvSpPr>
          <p:cNvPr id="9" name="Shape 7"/>
          <p:cNvSpPr/>
          <p:nvPr/>
        </p:nvSpPr>
        <p:spPr>
          <a:xfrm>
            <a:off x="658368" y="1261872"/>
            <a:ext cx="960120" cy="0"/>
          </a:xfrm>
          <a:prstGeom prst="line">
            <a:avLst/>
          </a:prstGeom>
          <a:noFill/>
          <a:ln w="38100">
            <a:solidFill>
              <a:srgbClr val="6D36D8"/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786384" y="1444752"/>
            <a:ext cx="5486400" cy="3703320"/>
          </a:xfrm>
          <a:prstGeom prst="roundRect">
            <a:avLst>
              <a:gd name="adj" fmla="val 2469"/>
            </a:avLst>
          </a:prstGeom>
          <a:solidFill>
            <a:srgbClr val="FBFAFF"/>
          </a:solidFill>
          <a:ln w="12700">
            <a:solidFill>
              <a:srgbClr val="D8D0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1664208"/>
            <a:ext cx="5047488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411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Input: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411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z_{i,b} = [e_i; e_b; s_{i,b}^{t-1}]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411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Score: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411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alpha_{i,b}^t = H_phi(z_{i,b})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411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Target: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411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y_{i,b}^t = ||Delta_{i,b}^t||_2 / max_b ||Delta_{i,b}^t||_2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720840" y="1554480"/>
            <a:ext cx="365760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8D0E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67144" y="1700784"/>
            <a:ext cx="164592" cy="164592"/>
          </a:xfrm>
          <a:prstGeom prst="roundRect">
            <a:avLst>
              <a:gd name="adj" fmla="val 22222"/>
            </a:avLst>
          </a:prstGeom>
          <a:solidFill>
            <a:srgbClr val="2D74FF"/>
          </a:solidFill>
          <a:ln w="12700">
            <a:solidFill>
              <a:srgbClr val="2D74FF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59752" y="1664208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41126"/>
                </a:solidFill>
              </a:rPr>
              <a:t>Client embedding e_i</a:t>
            </a:r>
            <a:endParaRPr lang="en-US" sz="1220" dirty="0"/>
          </a:p>
        </p:txBody>
      </p:sp>
      <p:sp>
        <p:nvSpPr>
          <p:cNvPr id="15" name="Text 13"/>
          <p:cNvSpPr/>
          <p:nvPr/>
        </p:nvSpPr>
        <p:spPr>
          <a:xfrm>
            <a:off x="6885432" y="2066544"/>
            <a:ext cx="3328416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E5870"/>
                </a:solidFill>
              </a:rPr>
              <a:t>Represents client identity or participation profile.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720840" y="2606040"/>
            <a:ext cx="365760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8D0E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67144" y="2752344"/>
            <a:ext cx="164592" cy="164592"/>
          </a:xfrm>
          <a:prstGeom prst="roundRect">
            <a:avLst>
              <a:gd name="adj" fmla="val 22222"/>
            </a:avLst>
          </a:prstGeom>
          <a:solidFill>
            <a:srgbClr val="6D36D8"/>
          </a:solidFill>
          <a:ln w="12700">
            <a:solidFill>
              <a:srgbClr val="6D36D8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59752" y="2715768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41126"/>
                </a:solidFill>
              </a:rPr>
              <a:t>Block embedding e_b</a:t>
            </a:r>
            <a:endParaRPr lang="en-US" sz="1220" dirty="0"/>
          </a:p>
        </p:txBody>
      </p:sp>
      <p:sp>
        <p:nvSpPr>
          <p:cNvPr id="19" name="Text 17"/>
          <p:cNvSpPr/>
          <p:nvPr/>
        </p:nvSpPr>
        <p:spPr>
          <a:xfrm>
            <a:off x="6885432" y="3118104"/>
            <a:ext cx="3328416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E5870"/>
                </a:solidFill>
              </a:rPr>
              <a:t>Represents model-block position and type.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720840" y="3657600"/>
            <a:ext cx="36576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D8D0E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867144" y="3803904"/>
            <a:ext cx="164592" cy="164592"/>
          </a:xfrm>
          <a:prstGeom prst="roundRect">
            <a:avLst>
              <a:gd name="adj" fmla="val 22222"/>
            </a:avLst>
          </a:prstGeom>
          <a:solidFill>
            <a:srgbClr val="19A974"/>
          </a:solidFill>
          <a:ln w="12700">
            <a:solidFill>
              <a:srgbClr val="19A974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59752" y="3767328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41126"/>
                </a:solidFill>
              </a:rPr>
              <a:t>Update statistics s</a:t>
            </a:r>
            <a:endParaRPr lang="en-US" sz="1220" dirty="0"/>
          </a:p>
        </p:txBody>
      </p:sp>
      <p:sp>
        <p:nvSpPr>
          <p:cNvPr id="23" name="Text 21"/>
          <p:cNvSpPr/>
          <p:nvPr/>
        </p:nvSpPr>
        <p:spPr>
          <a:xfrm>
            <a:off x="6885432" y="4169664"/>
            <a:ext cx="3328416" cy="2468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E5870"/>
                </a:solidFill>
              </a:rPr>
              <a:t>Uses lightweight norms, mean magnitude, and max absolute update from history.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720840" y="4864608"/>
            <a:ext cx="3657600" cy="502920"/>
          </a:xfrm>
          <a:prstGeom prst="roundRect">
            <a:avLst>
              <a:gd name="adj" fmla="val 21818"/>
            </a:avLst>
          </a:prstGeom>
          <a:solidFill>
            <a:srgbClr val="F8F5FF"/>
          </a:solidFill>
          <a:ln w="12700">
            <a:solidFill>
              <a:srgbClr val="D8D0E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85432" y="5010912"/>
            <a:ext cx="3328416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1411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Training target: normalized block update norm; loss: mean-squared prediction error.</a:t>
            </a:r>
            <a:endParaRPr lang="en-US" sz="108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960352" y="0"/>
            <a:ext cx="228600" cy="6858000"/>
          </a:xfrm>
          <a:prstGeom prst="rect">
            <a:avLst/>
          </a:prstGeom>
          <a:solidFill>
            <a:srgbClr val="F4F0FF">
              <a:alpha val="82000"/>
            </a:srgbClr>
          </a:solidFill>
          <a:ln w="12700">
            <a:solidFill>
              <a:srgbClr val="F4F0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905488" y="0"/>
            <a:ext cx="36576" cy="6858000"/>
          </a:xfrm>
          <a:prstGeom prst="rect">
            <a:avLst/>
          </a:prstGeom>
          <a:solidFill>
            <a:srgbClr val="C7B7FF">
              <a:alpha val="62000"/>
            </a:srgbClr>
          </a:solidFill>
          <a:ln w="12700">
            <a:solidFill>
              <a:srgbClr val="C7B7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6355080"/>
            <a:ext cx="11109960" cy="0"/>
          </a:xfrm>
          <a:prstGeom prst="line">
            <a:avLst/>
          </a:prstGeom>
          <a:noFill/>
          <a:ln w="12700">
            <a:solidFill>
              <a:srgbClr val="E9E1FF">
                <a:alpha val="9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39165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A748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Method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210544" y="6345936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D36D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15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58368" y="41148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D36D8"/>
                </a:solidFill>
              </a:rPr>
              <a:t>THE METHOD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21792" y="658368"/>
            <a:ext cx="7726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411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Selective Upload and Sparse Aggregation</a:t>
            </a:r>
            <a:endParaRPr lang="en-US" sz="2500" dirty="0"/>
          </a:p>
        </p:txBody>
      </p:sp>
      <p:sp>
        <p:nvSpPr>
          <p:cNvPr id="9" name="Shape 7"/>
          <p:cNvSpPr/>
          <p:nvPr/>
        </p:nvSpPr>
        <p:spPr>
          <a:xfrm>
            <a:off x="658368" y="1261872"/>
            <a:ext cx="960120" cy="0"/>
          </a:xfrm>
          <a:prstGeom prst="line">
            <a:avLst/>
          </a:prstGeom>
          <a:noFill/>
          <a:ln w="38100">
            <a:solidFill>
              <a:srgbClr val="6D36D8"/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777240" y="1481328"/>
            <a:ext cx="5669280" cy="3474720"/>
          </a:xfrm>
          <a:prstGeom prst="roundRect">
            <a:avLst>
              <a:gd name="adj" fmla="val 2632"/>
            </a:avLst>
          </a:prstGeom>
          <a:solidFill>
            <a:srgbClr val="FBFAFF"/>
          </a:solidFill>
          <a:ln w="12700">
            <a:solidFill>
              <a:srgbClr val="D8D0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96696" y="1700784"/>
            <a:ext cx="5230368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411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Upload set: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411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U_i^t = TopK_b(alpha_{i,b}^t)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411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Sparse aggregation: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411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theta_b^{t+1} = theta_b^t + sum_{i in S_b^t}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411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|D_i| / sum_{j in S_b^t}|D_j| * Delta_{i,b}^t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903720" y="1719072"/>
            <a:ext cx="4160520" cy="20116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r>
              <a:rPr lang="en-US" sz="1370" dirty="0">
                <a:solidFill>
                  <a:srgbClr val="5E587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Only mask-selected block deltas are transmitted.</a:t>
            </a:r>
            <a:endParaRPr lang="en-US" sz="1370" dirty="0"/>
          </a:p>
          <a:p>
            <a:r>
              <a:rPr lang="en-US" sz="1370" dirty="0">
                <a:solidFill>
                  <a:srgbClr val="5E587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Lightweight statistics for all blocks can still be reported to update the hypernetwork.</a:t>
            </a:r>
            <a:endParaRPr lang="en-US" sz="1370" dirty="0"/>
          </a:p>
          <a:p>
            <a:r>
              <a:rPr lang="en-US" sz="1370" dirty="0">
                <a:solidFill>
                  <a:srgbClr val="5E587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If no client uploads a block in a round, the server keeps that block unchanged.</a:t>
            </a:r>
            <a:endParaRPr lang="en-US" sz="1370" dirty="0"/>
          </a:p>
        </p:txBody>
      </p:sp>
      <p:sp>
        <p:nvSpPr>
          <p:cNvPr id="13" name="Shape 11"/>
          <p:cNvSpPr/>
          <p:nvPr/>
        </p:nvSpPr>
        <p:spPr>
          <a:xfrm>
            <a:off x="6903720" y="4443984"/>
            <a:ext cx="3749040" cy="621792"/>
          </a:xfrm>
          <a:prstGeom prst="roundRect">
            <a:avLst>
              <a:gd name="adj" fmla="val 17647"/>
            </a:avLst>
          </a:prstGeom>
          <a:solidFill>
            <a:srgbClr val="6D36D8"/>
          </a:solidFill>
          <a:ln w="12700">
            <a:solidFill>
              <a:srgbClr val="6D36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68312" y="4590288"/>
            <a:ext cx="3419856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3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Communication changes from full model update to important block update.</a:t>
            </a:r>
            <a:endParaRPr lang="en-US" sz="123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960352" y="0"/>
            <a:ext cx="228600" cy="6858000"/>
          </a:xfrm>
          <a:prstGeom prst="rect">
            <a:avLst/>
          </a:prstGeom>
          <a:solidFill>
            <a:srgbClr val="F4F0FF">
              <a:alpha val="82000"/>
            </a:srgbClr>
          </a:solidFill>
          <a:ln w="12700">
            <a:solidFill>
              <a:srgbClr val="F4F0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905488" y="0"/>
            <a:ext cx="36576" cy="6858000"/>
          </a:xfrm>
          <a:prstGeom prst="rect">
            <a:avLst/>
          </a:prstGeom>
          <a:solidFill>
            <a:srgbClr val="C7B7FF">
              <a:alpha val="62000"/>
            </a:srgbClr>
          </a:solidFill>
          <a:ln w="12700">
            <a:solidFill>
              <a:srgbClr val="C7B7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6355080"/>
            <a:ext cx="11109960" cy="0"/>
          </a:xfrm>
          <a:prstGeom prst="line">
            <a:avLst/>
          </a:prstGeom>
          <a:noFill/>
          <a:ln w="12700">
            <a:solidFill>
              <a:srgbClr val="E9E1FF">
                <a:alpha val="9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39165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A748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Method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210544" y="6345936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D36D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58368" y="41148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D36D8"/>
                </a:solidFill>
              </a:rPr>
              <a:t>THE METHOD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21792" y="658368"/>
            <a:ext cx="7726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411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Privacy and Downstream RAG Integration</a:t>
            </a:r>
            <a:endParaRPr lang="en-US" sz="2500" dirty="0"/>
          </a:p>
        </p:txBody>
      </p:sp>
      <p:sp>
        <p:nvSpPr>
          <p:cNvPr id="9" name="Shape 7"/>
          <p:cNvSpPr/>
          <p:nvPr/>
        </p:nvSpPr>
        <p:spPr>
          <a:xfrm>
            <a:off x="658368" y="1261872"/>
            <a:ext cx="960120" cy="0"/>
          </a:xfrm>
          <a:prstGeom prst="line">
            <a:avLst/>
          </a:prstGeom>
          <a:noFill/>
          <a:ln w="38100">
            <a:solidFill>
              <a:srgbClr val="6D36D8"/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658368" y="1664208"/>
            <a:ext cx="1630680" cy="612648"/>
          </a:xfrm>
          <a:prstGeom prst="roundRect">
            <a:avLst>
              <a:gd name="adj" fmla="val 17910"/>
            </a:avLst>
          </a:prstGeom>
          <a:solidFill>
            <a:srgbClr val="FFFFFF"/>
          </a:solidFill>
          <a:ln w="12700">
            <a:solidFill>
              <a:srgbClr val="D8D0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1810512"/>
            <a:ext cx="1301496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411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Federated Retriever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325624" y="1970532"/>
            <a:ext cx="146304" cy="0"/>
          </a:xfrm>
          <a:prstGeom prst="line">
            <a:avLst/>
          </a:prstGeom>
          <a:noFill/>
          <a:ln w="22860">
            <a:solidFill>
              <a:srgbClr val="9A7BFF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2508504" y="1664208"/>
            <a:ext cx="1630680" cy="612648"/>
          </a:xfrm>
          <a:prstGeom prst="roundRect">
            <a:avLst>
              <a:gd name="adj" fmla="val 17910"/>
            </a:avLst>
          </a:prstGeom>
          <a:solidFill>
            <a:srgbClr val="FFFFFF"/>
          </a:solidFill>
          <a:ln w="12700">
            <a:solidFill>
              <a:srgbClr val="D8D0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73096" y="1810512"/>
            <a:ext cx="1301496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411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Corpus Indexing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175760" y="1970532"/>
            <a:ext cx="146304" cy="0"/>
          </a:xfrm>
          <a:prstGeom prst="line">
            <a:avLst/>
          </a:prstGeom>
          <a:noFill/>
          <a:ln w="22860">
            <a:solidFill>
              <a:srgbClr val="9A7BFF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358640" y="1664208"/>
            <a:ext cx="1630680" cy="612648"/>
          </a:xfrm>
          <a:prstGeom prst="roundRect">
            <a:avLst>
              <a:gd name="adj" fmla="val 17910"/>
            </a:avLst>
          </a:prstGeom>
          <a:solidFill>
            <a:srgbClr val="FFFFFF"/>
          </a:solidFill>
          <a:ln w="12700">
            <a:solidFill>
              <a:srgbClr val="D8D0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23232" y="1810512"/>
            <a:ext cx="1301496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411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Query Embedding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025896" y="1970532"/>
            <a:ext cx="146304" cy="0"/>
          </a:xfrm>
          <a:prstGeom prst="line">
            <a:avLst/>
          </a:prstGeom>
          <a:noFill/>
          <a:ln w="22860">
            <a:solidFill>
              <a:srgbClr val="9A7BFF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208776" y="1664208"/>
            <a:ext cx="1630680" cy="612648"/>
          </a:xfrm>
          <a:prstGeom prst="roundRect">
            <a:avLst>
              <a:gd name="adj" fmla="val 17910"/>
            </a:avLst>
          </a:prstGeom>
          <a:solidFill>
            <a:srgbClr val="FFFFFF"/>
          </a:solidFill>
          <a:ln w="12700">
            <a:solidFill>
              <a:srgbClr val="D8D0E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73368" y="1810512"/>
            <a:ext cx="1301496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411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Retrieval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7876032" y="1970532"/>
            <a:ext cx="146304" cy="0"/>
          </a:xfrm>
          <a:prstGeom prst="line">
            <a:avLst/>
          </a:prstGeom>
          <a:noFill/>
          <a:ln w="22860">
            <a:solidFill>
              <a:srgbClr val="9A7BFF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8058912" y="1664208"/>
            <a:ext cx="1630680" cy="612648"/>
          </a:xfrm>
          <a:prstGeom prst="roundRect">
            <a:avLst>
              <a:gd name="adj" fmla="val 17910"/>
            </a:avLst>
          </a:prstGeom>
          <a:solidFill>
            <a:srgbClr val="FFFFFF"/>
          </a:solidFill>
          <a:ln w="12700">
            <a:solidFill>
              <a:srgbClr val="D8D0E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3504" y="1810512"/>
            <a:ext cx="1301496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411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LLM Generation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9726168" y="1970532"/>
            <a:ext cx="146304" cy="0"/>
          </a:xfrm>
          <a:prstGeom prst="line">
            <a:avLst/>
          </a:prstGeom>
          <a:noFill/>
          <a:ln w="22860">
            <a:solidFill>
              <a:srgbClr val="9A7BFF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9909048" y="1664208"/>
            <a:ext cx="1630680" cy="612648"/>
          </a:xfrm>
          <a:prstGeom prst="roundRect">
            <a:avLst>
              <a:gd name="adj" fmla="val 17910"/>
            </a:avLst>
          </a:prstGeom>
          <a:solidFill>
            <a:srgbClr val="6D36D8"/>
          </a:solidFill>
          <a:ln w="12700">
            <a:solidFill>
              <a:srgbClr val="6D36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073640" y="1810512"/>
            <a:ext cx="1301496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Evaluation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877824" y="3090672"/>
            <a:ext cx="6400800" cy="21488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r>
              <a:rPr lang="en-US" sz="1370" dirty="0">
                <a:solidFill>
                  <a:srgbClr val="5E587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method keeps FedE4RAG privacy assumptions: raw data remains local.</a:t>
            </a:r>
            <a:endParaRPr lang="en-US" sz="1370" dirty="0"/>
          </a:p>
          <a:p>
            <a:r>
              <a:rPr lang="en-US" sz="1370" dirty="0">
                <a:solidFill>
                  <a:srgbClr val="5E587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Selective upload narrows the parameter exposure surface.</a:t>
            </a:r>
            <a:endParaRPr lang="en-US" sz="1370" dirty="0"/>
          </a:p>
          <a:p>
            <a:r>
              <a:rPr lang="en-US" sz="1370" dirty="0">
                <a:solidFill>
                  <a:srgbClr val="5E587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If stronger protection is required, CKKS-style homomorphic encryption can be applied only to selected blocks.</a:t>
            </a:r>
            <a:endParaRPr lang="en-US" sz="1370" dirty="0"/>
          </a:p>
          <a:p>
            <a:r>
              <a:rPr lang="en-US" sz="1370" dirty="0">
                <a:solidFill>
                  <a:srgbClr val="5E587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Downstream RAG metrics test whether communication savings preserve real retrieval and answer quality.</a:t>
            </a:r>
            <a:endParaRPr lang="en-US" sz="1370" dirty="0"/>
          </a:p>
        </p:txBody>
      </p:sp>
      <p:sp>
        <p:nvSpPr>
          <p:cNvPr id="28" name="Shape 26"/>
          <p:cNvSpPr/>
          <p:nvPr/>
        </p:nvSpPr>
        <p:spPr>
          <a:xfrm>
            <a:off x="7726680" y="3246120"/>
            <a:ext cx="320040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D8D0E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872984" y="3392424"/>
            <a:ext cx="164592" cy="164592"/>
          </a:xfrm>
          <a:prstGeom prst="roundRect">
            <a:avLst>
              <a:gd name="adj" fmla="val 22222"/>
            </a:avLst>
          </a:prstGeom>
          <a:solidFill>
            <a:srgbClr val="6D36D8"/>
          </a:solidFill>
          <a:ln w="12700">
            <a:solidFill>
              <a:srgbClr val="6D36D8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165592" y="3355848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41126"/>
                </a:solidFill>
              </a:rPr>
              <a:t>Expected effect</a:t>
            </a:r>
            <a:endParaRPr lang="en-US" sz="1220" dirty="0"/>
          </a:p>
        </p:txBody>
      </p:sp>
      <p:sp>
        <p:nvSpPr>
          <p:cNvPr id="31" name="Text 29"/>
          <p:cNvSpPr/>
          <p:nvPr/>
        </p:nvSpPr>
        <p:spPr>
          <a:xfrm>
            <a:off x="7891272" y="3758184"/>
            <a:ext cx="2871216" cy="5212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E5870"/>
                </a:solidFill>
              </a:rPr>
              <a:t>Less encrypted payload and lower aggregation cost when HE is enabled.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960352" y="0"/>
            <a:ext cx="228600" cy="6858000"/>
          </a:xfrm>
          <a:prstGeom prst="rect">
            <a:avLst/>
          </a:prstGeom>
          <a:solidFill>
            <a:srgbClr val="F4F0FF">
              <a:alpha val="82000"/>
            </a:srgbClr>
          </a:solidFill>
          <a:ln w="12700">
            <a:solidFill>
              <a:srgbClr val="F4F0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905488" y="0"/>
            <a:ext cx="36576" cy="6858000"/>
          </a:xfrm>
          <a:prstGeom prst="rect">
            <a:avLst/>
          </a:prstGeom>
          <a:solidFill>
            <a:srgbClr val="C7B7FF">
              <a:alpha val="62000"/>
            </a:srgbClr>
          </a:solidFill>
          <a:ln w="12700">
            <a:solidFill>
              <a:srgbClr val="C7B7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6355080"/>
            <a:ext cx="11109960" cy="0"/>
          </a:xfrm>
          <a:prstGeom prst="line">
            <a:avLst/>
          </a:prstGeom>
          <a:noFill/>
          <a:ln w="12700">
            <a:solidFill>
              <a:srgbClr val="E9E1FF">
                <a:alpha val="9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39165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A748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Experiment Design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210544" y="6345936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D36D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17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58368" y="41148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D36D8"/>
                </a:solidFill>
              </a:rPr>
              <a:t>EXPERIMENT DESIGN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21792" y="658368"/>
            <a:ext cx="7726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411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Research Questions and Baselines</a:t>
            </a:r>
            <a:endParaRPr lang="en-US" sz="2500" dirty="0"/>
          </a:p>
        </p:txBody>
      </p:sp>
      <p:sp>
        <p:nvSpPr>
          <p:cNvPr id="9" name="Shape 7"/>
          <p:cNvSpPr/>
          <p:nvPr/>
        </p:nvSpPr>
        <p:spPr>
          <a:xfrm>
            <a:off x="658368" y="1261872"/>
            <a:ext cx="960120" cy="0"/>
          </a:xfrm>
          <a:prstGeom prst="line">
            <a:avLst/>
          </a:prstGeom>
          <a:noFill/>
          <a:ln w="38100">
            <a:solidFill>
              <a:srgbClr val="6D36D8"/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749808" y="1508760"/>
            <a:ext cx="329184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D8D0E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96112" y="1655064"/>
            <a:ext cx="164592" cy="164592"/>
          </a:xfrm>
          <a:prstGeom prst="roundRect">
            <a:avLst>
              <a:gd name="adj" fmla="val 22222"/>
            </a:avLst>
          </a:prstGeom>
          <a:solidFill>
            <a:srgbClr val="6D36D8"/>
          </a:solidFill>
          <a:ln w="12700">
            <a:solidFill>
              <a:srgbClr val="6D36D8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88720" y="1618488"/>
            <a:ext cx="2724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41126"/>
                </a:solidFill>
              </a:rPr>
              <a:t>RQ1</a:t>
            </a:r>
            <a:endParaRPr lang="en-US" sz="1220" dirty="0"/>
          </a:p>
        </p:txBody>
      </p:sp>
      <p:sp>
        <p:nvSpPr>
          <p:cNvPr id="13" name="Text 11"/>
          <p:cNvSpPr/>
          <p:nvPr/>
        </p:nvSpPr>
        <p:spPr>
          <a:xfrm>
            <a:off x="914400" y="2020824"/>
            <a:ext cx="2962656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E5870"/>
                </a:solidFill>
              </a:rPr>
              <a:t>Can PPRAG-FL significantly reduce upstream communication payload?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443984" y="1508760"/>
            <a:ext cx="329184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D8D0E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90288" y="1655064"/>
            <a:ext cx="164592" cy="164592"/>
          </a:xfrm>
          <a:prstGeom prst="roundRect">
            <a:avLst>
              <a:gd name="adj" fmla="val 22222"/>
            </a:avLst>
          </a:prstGeom>
          <a:solidFill>
            <a:srgbClr val="2D74FF"/>
          </a:solidFill>
          <a:ln w="12700">
            <a:solidFill>
              <a:srgbClr val="2D74F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82896" y="1618488"/>
            <a:ext cx="2724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41126"/>
                </a:solidFill>
              </a:rPr>
              <a:t>RQ2</a:t>
            </a:r>
            <a:endParaRPr lang="en-US" sz="1220" dirty="0"/>
          </a:p>
        </p:txBody>
      </p:sp>
      <p:sp>
        <p:nvSpPr>
          <p:cNvPr id="17" name="Text 15"/>
          <p:cNvSpPr/>
          <p:nvPr/>
        </p:nvSpPr>
        <p:spPr>
          <a:xfrm>
            <a:off x="4608576" y="2020824"/>
            <a:ext cx="2962656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E5870"/>
                </a:solidFill>
              </a:rPr>
              <a:t>Does downstream retrieval remain stable under compression?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138160" y="1508760"/>
            <a:ext cx="329184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D8D0E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84464" y="1655064"/>
            <a:ext cx="164592" cy="164592"/>
          </a:xfrm>
          <a:prstGeom prst="roundRect">
            <a:avLst>
              <a:gd name="adj" fmla="val 22222"/>
            </a:avLst>
          </a:prstGeom>
          <a:solidFill>
            <a:srgbClr val="19A974"/>
          </a:solidFill>
          <a:ln w="12700">
            <a:solidFill>
              <a:srgbClr val="19A974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77072" y="1618488"/>
            <a:ext cx="2724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41126"/>
                </a:solidFill>
              </a:rPr>
              <a:t>RQ3</a:t>
            </a:r>
            <a:endParaRPr lang="en-US" sz="1220" dirty="0"/>
          </a:p>
        </p:txBody>
      </p:sp>
      <p:sp>
        <p:nvSpPr>
          <p:cNvPr id="21" name="Text 19"/>
          <p:cNvSpPr/>
          <p:nvPr/>
        </p:nvSpPr>
        <p:spPr>
          <a:xfrm>
            <a:off x="8302752" y="2020824"/>
            <a:ext cx="2962656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E5870"/>
                </a:solidFill>
              </a:rPr>
              <a:t>How does K trade off payload reduction and retrieval quality?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960120" y="3246120"/>
            <a:ext cx="4114800" cy="20116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r>
              <a:rPr lang="en-US" sz="1420" dirty="0">
                <a:solidFill>
                  <a:srgbClr val="5E587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FedE4RAG Full Upload</a:t>
            </a:r>
            <a:endParaRPr lang="en-US" sz="1420" dirty="0"/>
          </a:p>
          <a:p>
            <a:r>
              <a:rPr lang="en-US" sz="1420" dirty="0">
                <a:solidFill>
                  <a:srgbClr val="5E587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Random Selective Upload</a:t>
            </a:r>
            <a:endParaRPr lang="en-US" sz="1420" dirty="0"/>
          </a:p>
          <a:p>
            <a:r>
              <a:rPr lang="en-US" sz="1420" dirty="0">
                <a:solidFill>
                  <a:srgbClr val="5E587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Static Top-Layer Upload</a:t>
            </a:r>
            <a:endParaRPr lang="en-US" sz="1420" dirty="0"/>
          </a:p>
          <a:p>
            <a:r>
              <a:rPr lang="en-US" sz="1420" dirty="0">
                <a:solidFill>
                  <a:srgbClr val="5E587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Delta-Norm Selection</a:t>
            </a:r>
            <a:endParaRPr lang="en-US" sz="1420" dirty="0"/>
          </a:p>
          <a:p>
            <a:r>
              <a:rPr lang="en-US" sz="1420" dirty="0">
                <a:solidFill>
                  <a:srgbClr val="5E587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PPRAG-FL Hypernetwork Selection</a:t>
            </a:r>
            <a:endParaRPr lang="en-US" sz="1420" dirty="0"/>
          </a:p>
        </p:txBody>
      </p:sp>
      <p:sp>
        <p:nvSpPr>
          <p:cNvPr id="23" name="Shape 21"/>
          <p:cNvSpPr/>
          <p:nvPr/>
        </p:nvSpPr>
        <p:spPr>
          <a:xfrm>
            <a:off x="5669280" y="3520440"/>
            <a:ext cx="4754880" cy="841248"/>
          </a:xfrm>
          <a:prstGeom prst="roundRect">
            <a:avLst>
              <a:gd name="adj" fmla="val 13043"/>
            </a:avLst>
          </a:prstGeom>
          <a:solidFill>
            <a:srgbClr val="F8F5FF"/>
          </a:solidFill>
          <a:ln w="12700">
            <a:solidFill>
              <a:srgbClr val="D8D0E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833872" y="3666744"/>
            <a:ext cx="4425696" cy="5852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411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All baselines share the same data split, client count, training rounds, and local hyperparameters.</a:t>
            </a:r>
            <a:endParaRPr lang="en-US" sz="122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960352" y="0"/>
            <a:ext cx="228600" cy="6858000"/>
          </a:xfrm>
          <a:prstGeom prst="rect">
            <a:avLst/>
          </a:prstGeom>
          <a:solidFill>
            <a:srgbClr val="F4F0FF">
              <a:alpha val="82000"/>
            </a:srgbClr>
          </a:solidFill>
          <a:ln w="12700">
            <a:solidFill>
              <a:srgbClr val="F4F0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905488" y="0"/>
            <a:ext cx="36576" cy="6858000"/>
          </a:xfrm>
          <a:prstGeom prst="rect">
            <a:avLst/>
          </a:prstGeom>
          <a:solidFill>
            <a:srgbClr val="C7B7FF">
              <a:alpha val="62000"/>
            </a:srgbClr>
          </a:solidFill>
          <a:ln w="12700">
            <a:solidFill>
              <a:srgbClr val="C7B7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6355080"/>
            <a:ext cx="11109960" cy="0"/>
          </a:xfrm>
          <a:prstGeom prst="line">
            <a:avLst/>
          </a:prstGeom>
          <a:noFill/>
          <a:ln w="12700">
            <a:solidFill>
              <a:srgbClr val="E9E1FF">
                <a:alpha val="9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39165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A748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Experiment Design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210544" y="6345936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D36D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18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58368" y="41148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D36D8"/>
                </a:solidFill>
              </a:rPr>
              <a:t>EXPERIMENT DESIGN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21792" y="658368"/>
            <a:ext cx="7726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411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Datasets, Settings, Metrics, and Ablations</a:t>
            </a:r>
            <a:endParaRPr lang="en-US" sz="2500" dirty="0"/>
          </a:p>
        </p:txBody>
      </p:sp>
      <p:sp>
        <p:nvSpPr>
          <p:cNvPr id="9" name="Shape 7"/>
          <p:cNvSpPr/>
          <p:nvPr/>
        </p:nvSpPr>
        <p:spPr>
          <a:xfrm>
            <a:off x="658368" y="1261872"/>
            <a:ext cx="960120" cy="0"/>
          </a:xfrm>
          <a:prstGeom prst="line">
            <a:avLst/>
          </a:prstGeom>
          <a:noFill/>
          <a:ln w="38100">
            <a:solidFill>
              <a:srgbClr val="6D36D8"/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749808" y="1481328"/>
            <a:ext cx="338328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8D0E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96112" y="1627632"/>
            <a:ext cx="164592" cy="164592"/>
          </a:xfrm>
          <a:prstGeom prst="roundRect">
            <a:avLst>
              <a:gd name="adj" fmla="val 22222"/>
            </a:avLst>
          </a:prstGeom>
          <a:solidFill>
            <a:srgbClr val="6D36D8"/>
          </a:solidFill>
          <a:ln w="12700">
            <a:solidFill>
              <a:srgbClr val="6D36D8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88720" y="1591056"/>
            <a:ext cx="2816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41126"/>
                </a:solidFill>
              </a:rPr>
              <a:t>Data</a:t>
            </a:r>
            <a:endParaRPr lang="en-US" sz="1220" dirty="0"/>
          </a:p>
        </p:txBody>
      </p:sp>
      <p:sp>
        <p:nvSpPr>
          <p:cNvPr id="13" name="Text 11"/>
          <p:cNvSpPr/>
          <p:nvPr/>
        </p:nvSpPr>
        <p:spPr>
          <a:xfrm>
            <a:off x="914400" y="1993392"/>
            <a:ext cx="3054096" cy="13898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E5870"/>
                </a:solidFill>
              </a:rPr>
              <a:t>Upstream: FedE/train_data to FedE/select_data.json.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E5870"/>
                </a:solidFill>
              </a:rPr>
              <a:t>Downstream: RAGTest/data, including data_50.json and data_100.json.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370832" y="1481328"/>
            <a:ext cx="338328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8D0E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17136" y="1627632"/>
            <a:ext cx="164592" cy="164592"/>
          </a:xfrm>
          <a:prstGeom prst="roundRect">
            <a:avLst>
              <a:gd name="adj" fmla="val 22222"/>
            </a:avLst>
          </a:prstGeom>
          <a:solidFill>
            <a:srgbClr val="2D74FF"/>
          </a:solidFill>
          <a:ln w="12700">
            <a:solidFill>
              <a:srgbClr val="2D74F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09744" y="1591056"/>
            <a:ext cx="2816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41126"/>
                </a:solidFill>
              </a:rPr>
              <a:t>Default settings</a:t>
            </a:r>
            <a:endParaRPr lang="en-US" sz="1220" dirty="0"/>
          </a:p>
        </p:txBody>
      </p:sp>
      <p:sp>
        <p:nvSpPr>
          <p:cNvPr id="17" name="Text 15"/>
          <p:cNvSpPr/>
          <p:nvPr/>
        </p:nvSpPr>
        <p:spPr>
          <a:xfrm>
            <a:off x="4535424" y="1993392"/>
            <a:ext cx="3054096" cy="13898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E5870"/>
                </a:solidFill>
              </a:rPr>
              <a:t>5 clients, 25 rounds, local epoch 1, batch size 8, learning rate 1e-5.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E5870"/>
                </a:solidFill>
              </a:rPr>
              <a:t>Hypernetwork: dim 64, hidden 128, lr 5e-3, warm-up 2, top-K 3.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991856" y="1481328"/>
            <a:ext cx="338328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8D0E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138160" y="1627632"/>
            <a:ext cx="164592" cy="164592"/>
          </a:xfrm>
          <a:prstGeom prst="roundRect">
            <a:avLst>
              <a:gd name="adj" fmla="val 22222"/>
            </a:avLst>
          </a:prstGeom>
          <a:solidFill>
            <a:srgbClr val="19A974"/>
          </a:solidFill>
          <a:ln w="12700">
            <a:solidFill>
              <a:srgbClr val="19A974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30768" y="1591056"/>
            <a:ext cx="2816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41126"/>
                </a:solidFill>
              </a:rPr>
              <a:t>Metrics</a:t>
            </a:r>
            <a:endParaRPr lang="en-US" sz="1220" dirty="0"/>
          </a:p>
        </p:txBody>
      </p:sp>
      <p:sp>
        <p:nvSpPr>
          <p:cNvPr id="21" name="Text 19"/>
          <p:cNvSpPr/>
          <p:nvPr/>
        </p:nvSpPr>
        <p:spPr>
          <a:xfrm>
            <a:off x="8156448" y="1993392"/>
            <a:ext cx="3054096" cy="13898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E5870"/>
                </a:solidFill>
              </a:rPr>
              <a:t>Communication: payload ratio and uploaded parameters.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E5870"/>
                </a:solidFill>
              </a:rPr>
              <a:t>Retrieval: Hit@k, Recall@k, MRR, MAP, NDCG.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E5870"/>
                </a:solidFill>
              </a:rPr>
              <a:t>Generation: ROUGE, CHRF, METEOR, WER, CER, PPL.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960120" y="4224528"/>
            <a:ext cx="9601200" cy="11430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r>
              <a:rPr lang="en-US" sz="1280" dirty="0">
                <a:solidFill>
                  <a:srgbClr val="5E587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Ablate upload budget K = 1, 3, 5, 7.</a:t>
            </a:r>
            <a:endParaRPr lang="en-US" sz="1280" dirty="0"/>
          </a:p>
          <a:p>
            <a:r>
              <a:rPr lang="en-US" sz="1280" dirty="0">
                <a:solidFill>
                  <a:srgbClr val="5E587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Ablate warm-up rounds = 0, 1, 2, 5.</a:t>
            </a:r>
            <a:endParaRPr lang="en-US" sz="1280" dirty="0"/>
          </a:p>
          <a:p>
            <a:r>
              <a:rPr lang="en-US" sz="1280" dirty="0">
                <a:solidFill>
                  <a:srgbClr val="5E587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Compare hypernetwork selection with random, static high-layer, and delta-norm heuristics.</a:t>
            </a:r>
            <a:endParaRPr lang="en-US" sz="1280" dirty="0"/>
          </a:p>
          <a:p>
            <a:r>
              <a:rPr lang="en-US" sz="1280" dirty="0">
                <a:solidFill>
                  <a:srgbClr val="5E587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Optionally compare CKKS-enabled and non-encrypted communication cost.</a:t>
            </a:r>
            <a:endParaRPr lang="en-US" sz="128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960352" y="0"/>
            <a:ext cx="228600" cy="6858000"/>
          </a:xfrm>
          <a:prstGeom prst="rect">
            <a:avLst/>
          </a:prstGeom>
          <a:solidFill>
            <a:srgbClr val="F4F0FF">
              <a:alpha val="82000"/>
            </a:srgbClr>
          </a:solidFill>
          <a:ln w="12700">
            <a:solidFill>
              <a:srgbClr val="F4F0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905488" y="0"/>
            <a:ext cx="36576" cy="6858000"/>
          </a:xfrm>
          <a:prstGeom prst="rect">
            <a:avLst/>
          </a:prstGeom>
          <a:solidFill>
            <a:srgbClr val="C7B7FF">
              <a:alpha val="62000"/>
            </a:srgbClr>
          </a:solidFill>
          <a:ln w="12700">
            <a:solidFill>
              <a:srgbClr val="C7B7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6355080"/>
            <a:ext cx="11109960" cy="0"/>
          </a:xfrm>
          <a:prstGeom prst="line">
            <a:avLst/>
          </a:prstGeom>
          <a:noFill/>
          <a:ln w="12700">
            <a:solidFill>
              <a:srgbClr val="E9E1FF">
                <a:alpha val="9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39165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A748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References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210544" y="6345936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D36D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19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58368" y="41148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D36D8"/>
                </a:solidFill>
              </a:rPr>
              <a:t>REFERENCES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21792" y="658368"/>
            <a:ext cx="7726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411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References and Methods Discussed</a:t>
            </a:r>
            <a:endParaRPr lang="en-US" sz="2500" dirty="0"/>
          </a:p>
        </p:txBody>
      </p:sp>
      <p:sp>
        <p:nvSpPr>
          <p:cNvPr id="9" name="Shape 7"/>
          <p:cNvSpPr/>
          <p:nvPr/>
        </p:nvSpPr>
        <p:spPr>
          <a:xfrm>
            <a:off x="658368" y="1261872"/>
            <a:ext cx="960120" cy="0"/>
          </a:xfrm>
          <a:prstGeom prst="line">
            <a:avLst/>
          </a:prstGeom>
          <a:noFill/>
          <a:ln w="38100">
            <a:solidFill>
              <a:srgbClr val="6D36D8"/>
            </a:solidFill>
            <a:prstDash val="solid"/>
            <a:headEnd type="none"/>
            <a:tailEnd type="none"/>
          </a:ln>
        </p:spPr>
      </p:sp>
      <p:sp>
        <p:nvSpPr>
          <p:cNvPr id="10" name="Text 8"/>
          <p:cNvSpPr/>
          <p:nvPr/>
        </p:nvSpPr>
        <p:spPr>
          <a:xfrm>
            <a:off x="868680" y="1554480"/>
            <a:ext cx="7406640" cy="3749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r>
              <a:rPr lang="en-US" sz="1320" dirty="0">
                <a:solidFill>
                  <a:srgbClr val="5E587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FedE4RAG: federated learning, knowledge distillation, and homomorphic encryption for private RAG retriever training.</a:t>
            </a:r>
            <a:endParaRPr lang="en-US" sz="1320" dirty="0"/>
          </a:p>
          <a:p>
            <a:r>
              <a:rPr lang="en-US" sz="1320" dirty="0">
                <a:solidFill>
                  <a:srgbClr val="5E587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pFedLA: personalized federated learning with hypernetwork-generated layer aggregation weights.</a:t>
            </a:r>
            <a:endParaRPr lang="en-US" sz="1320" dirty="0"/>
          </a:p>
          <a:p>
            <a:r>
              <a:rPr lang="en-US" sz="1320" dirty="0">
                <a:solidFill>
                  <a:srgbClr val="5E587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DPRAG: differential privacy at the inference/output side of RAG.</a:t>
            </a:r>
            <a:endParaRPr lang="en-US" sz="1320" dirty="0"/>
          </a:p>
          <a:p>
            <a:r>
              <a:rPr lang="en-US" sz="1320" dirty="0">
                <a:solidFill>
                  <a:srgbClr val="5E587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GraphRAG: knowledge-graph-enhanced retrieval and cross-document reasoning.</a:t>
            </a:r>
            <a:endParaRPr lang="en-US" sz="1320" dirty="0"/>
          </a:p>
          <a:p>
            <a:r>
              <a:rPr lang="en-US" sz="1320" dirty="0">
                <a:solidFill>
                  <a:srgbClr val="5E587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C-FedRAG, FLERAG, FeB4RAG: related federated or trusted-execution RAG settings.</a:t>
            </a:r>
            <a:endParaRPr lang="en-US" sz="1320" dirty="0"/>
          </a:p>
          <a:p>
            <a:r>
              <a:rPr lang="en-US" sz="1320" dirty="0">
                <a:solidFill>
                  <a:srgbClr val="5E587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CKKS homomorphic encryption: optional encrypted update transmission for stronger privacy.</a:t>
            </a:r>
            <a:endParaRPr lang="en-US" sz="1320" dirty="0"/>
          </a:p>
        </p:txBody>
      </p:sp>
      <p:sp>
        <p:nvSpPr>
          <p:cNvPr id="11" name="Shape 9"/>
          <p:cNvSpPr/>
          <p:nvPr/>
        </p:nvSpPr>
        <p:spPr>
          <a:xfrm>
            <a:off x="8686800" y="1975104"/>
            <a:ext cx="2423160" cy="1691640"/>
          </a:xfrm>
          <a:prstGeom prst="roundRect">
            <a:avLst>
              <a:gd name="adj" fmla="val 6486"/>
            </a:avLst>
          </a:prstGeom>
          <a:solidFill>
            <a:srgbClr val="F8F5FF"/>
          </a:solidFill>
          <a:ln w="12700">
            <a:solidFill>
              <a:srgbClr val="D8D0E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851392" y="2121408"/>
            <a:ext cx="2093976" cy="1435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30" b="1" dirty="0">
                <a:solidFill>
                  <a:srgbClr val="1411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Reference details should be replaced with formal bibliographic entries before final submission if required by the venue.</a:t>
            </a:r>
            <a:endParaRPr lang="en-US" sz="113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960352" y="0"/>
            <a:ext cx="228600" cy="6858000"/>
          </a:xfrm>
          <a:prstGeom prst="rect">
            <a:avLst/>
          </a:prstGeom>
          <a:solidFill>
            <a:srgbClr val="F4F0FF">
              <a:alpha val="82000"/>
            </a:srgbClr>
          </a:solidFill>
          <a:ln w="12700">
            <a:solidFill>
              <a:srgbClr val="F4F0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905488" y="0"/>
            <a:ext cx="36576" cy="6858000"/>
          </a:xfrm>
          <a:prstGeom prst="rect">
            <a:avLst/>
          </a:prstGeom>
          <a:solidFill>
            <a:srgbClr val="C7B7FF">
              <a:alpha val="62000"/>
            </a:srgbClr>
          </a:solidFill>
          <a:ln w="12700">
            <a:solidFill>
              <a:srgbClr val="C7B7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6355080"/>
            <a:ext cx="11109960" cy="0"/>
          </a:xfrm>
          <a:prstGeom prst="line">
            <a:avLst/>
          </a:prstGeom>
          <a:noFill/>
          <a:ln w="12700">
            <a:solidFill>
              <a:srgbClr val="E9E1FF">
                <a:alpha val="9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39165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A748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Appendix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210544" y="6345936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D36D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20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58368" y="41148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D36D8"/>
                </a:solidFill>
              </a:rPr>
              <a:t>APPENDIX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21792" y="658368"/>
            <a:ext cx="7726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411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Appendix: Implementation Hooks in the Current Repository</a:t>
            </a:r>
            <a:endParaRPr lang="en-US" sz="2500" dirty="0"/>
          </a:p>
        </p:txBody>
      </p:sp>
      <p:sp>
        <p:nvSpPr>
          <p:cNvPr id="9" name="Shape 7"/>
          <p:cNvSpPr/>
          <p:nvPr/>
        </p:nvSpPr>
        <p:spPr>
          <a:xfrm>
            <a:off x="658368" y="1261872"/>
            <a:ext cx="960120" cy="0"/>
          </a:xfrm>
          <a:prstGeom prst="line">
            <a:avLst/>
          </a:prstGeom>
          <a:noFill/>
          <a:ln w="38100">
            <a:solidFill>
              <a:srgbClr val="6D36D8"/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749808" y="1481328"/>
            <a:ext cx="338328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D8D0E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96112" y="1627632"/>
            <a:ext cx="164592" cy="164592"/>
          </a:xfrm>
          <a:prstGeom prst="roundRect">
            <a:avLst>
              <a:gd name="adj" fmla="val 22222"/>
            </a:avLst>
          </a:prstGeom>
          <a:solidFill>
            <a:srgbClr val="6D36D8"/>
          </a:solidFill>
          <a:ln w="12700">
            <a:solidFill>
              <a:srgbClr val="6D36D8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88720" y="1591056"/>
            <a:ext cx="2816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41126"/>
                </a:solidFill>
              </a:rPr>
              <a:t>Upstream FL</a:t>
            </a:r>
            <a:endParaRPr lang="en-US" sz="1220" dirty="0"/>
          </a:p>
        </p:txBody>
      </p:sp>
      <p:sp>
        <p:nvSpPr>
          <p:cNvPr id="13" name="Text 11"/>
          <p:cNvSpPr/>
          <p:nvPr/>
        </p:nvSpPr>
        <p:spPr>
          <a:xfrm>
            <a:off x="914400" y="1993392"/>
            <a:ext cx="3054096" cy="7040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E5870"/>
                </a:solidFill>
              </a:rPr>
              <a:t>FedE/main.py creates the federated task and initializes flgo.algorithm.fedrag.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370832" y="1481328"/>
            <a:ext cx="338328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D8D0E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17136" y="1627632"/>
            <a:ext cx="164592" cy="164592"/>
          </a:xfrm>
          <a:prstGeom prst="roundRect">
            <a:avLst>
              <a:gd name="adj" fmla="val 22222"/>
            </a:avLst>
          </a:prstGeom>
          <a:solidFill>
            <a:srgbClr val="2D74FF"/>
          </a:solidFill>
          <a:ln w="12700">
            <a:solidFill>
              <a:srgbClr val="2D74F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09744" y="1591056"/>
            <a:ext cx="2816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41126"/>
                </a:solidFill>
              </a:rPr>
              <a:t>Local benchmark</a:t>
            </a:r>
            <a:endParaRPr lang="en-US" sz="1220" dirty="0"/>
          </a:p>
        </p:txBody>
      </p:sp>
      <p:sp>
        <p:nvSpPr>
          <p:cNvPr id="17" name="Text 15"/>
          <p:cNvSpPr/>
          <p:nvPr/>
        </p:nvSpPr>
        <p:spPr>
          <a:xfrm>
            <a:off x="4535424" y="1993392"/>
            <a:ext cx="3054096" cy="7040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E5870"/>
                </a:solidFill>
              </a:rPr>
              <a:t>FedE/flgo/benchmark/fedrag_classification/core.py defines task partitioning, training data, and client loss calculation.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991856" y="1481328"/>
            <a:ext cx="338328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D8D0E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138160" y="1627632"/>
            <a:ext cx="164592" cy="164592"/>
          </a:xfrm>
          <a:prstGeom prst="roundRect">
            <a:avLst>
              <a:gd name="adj" fmla="val 22222"/>
            </a:avLst>
          </a:prstGeom>
          <a:solidFill>
            <a:srgbClr val="19A974"/>
          </a:solidFill>
          <a:ln w="12700">
            <a:solidFill>
              <a:srgbClr val="19A974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30768" y="1591056"/>
            <a:ext cx="2816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41126"/>
                </a:solidFill>
              </a:rPr>
              <a:t>Server/client protocol</a:t>
            </a:r>
            <a:endParaRPr lang="en-US" sz="1220" dirty="0"/>
          </a:p>
        </p:txBody>
      </p:sp>
      <p:sp>
        <p:nvSpPr>
          <p:cNvPr id="21" name="Text 19"/>
          <p:cNvSpPr/>
          <p:nvPr/>
        </p:nvSpPr>
        <p:spPr>
          <a:xfrm>
            <a:off x="8156448" y="1993392"/>
            <a:ext cx="3054096" cy="7040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E5870"/>
                </a:solidFill>
              </a:rPr>
              <a:t>fedrag.py handles model broadcast, local training, client replies, and server aggregation.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1828800" y="3474720"/>
            <a:ext cx="397764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D8D0E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975104" y="3621024"/>
            <a:ext cx="164592" cy="164592"/>
          </a:xfrm>
          <a:prstGeom prst="roundRect">
            <a:avLst>
              <a:gd name="adj" fmla="val 22222"/>
            </a:avLst>
          </a:prstGeom>
          <a:solidFill>
            <a:srgbClr val="6D36D8"/>
          </a:solidFill>
          <a:ln w="12700">
            <a:solidFill>
              <a:srgbClr val="6D36D8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267712" y="3584448"/>
            <a:ext cx="3410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41126"/>
                </a:solidFill>
              </a:rPr>
              <a:t>Downstream RAGTest</a:t>
            </a:r>
            <a:endParaRPr lang="en-US" sz="1220" dirty="0"/>
          </a:p>
        </p:txBody>
      </p:sp>
      <p:sp>
        <p:nvSpPr>
          <p:cNvPr id="25" name="Text 23"/>
          <p:cNvSpPr/>
          <p:nvPr/>
        </p:nvSpPr>
        <p:spPr>
          <a:xfrm>
            <a:off x="1993392" y="3986784"/>
            <a:ext cx="3648456" cy="7955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E5870"/>
                </a:solidFill>
              </a:rPr>
              <a:t>RAGTest/index.py builds vector indexes; RAGTest/retriever.py implements retrieval; RAGTest/eval computes retrieval and generation metrics.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400800" y="3474720"/>
            <a:ext cx="397764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D8D0E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547104" y="3621024"/>
            <a:ext cx="164592" cy="164592"/>
          </a:xfrm>
          <a:prstGeom prst="roundRect">
            <a:avLst>
              <a:gd name="adj" fmla="val 22222"/>
            </a:avLst>
          </a:prstGeom>
          <a:solidFill>
            <a:srgbClr val="E24A62"/>
          </a:solidFill>
          <a:ln w="12700">
            <a:solidFill>
              <a:srgbClr val="E24A62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39712" y="3584448"/>
            <a:ext cx="3410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41126"/>
                </a:solidFill>
              </a:rPr>
              <a:t>Where PPRAG-FL fits</a:t>
            </a:r>
            <a:endParaRPr lang="en-US" sz="1220" dirty="0"/>
          </a:p>
        </p:txBody>
      </p:sp>
      <p:sp>
        <p:nvSpPr>
          <p:cNvPr id="29" name="Text 27"/>
          <p:cNvSpPr/>
          <p:nvPr/>
        </p:nvSpPr>
        <p:spPr>
          <a:xfrm>
            <a:off x="6565392" y="3986784"/>
            <a:ext cx="3648456" cy="7955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E5870"/>
                </a:solidFill>
              </a:rPr>
              <a:t>Add block masks, payload logging, hypernetwork scoring, sparse aggregation, and selected-block HE hooks around the communication phase.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Helvetica Neu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Helvetica Neue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FedE4RAG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PPRAG-FL: Hypernetwork-Guided Selective Parameter Upload for Federated RAG</dc:title>
  <dc:subject>Privacy-preserving RAG based on federated learning</dc:subject>
  <dc:creator>Codex</dc:creator>
  <cp:lastModifiedBy>Codex</cp:lastModifiedBy>
  <cp:revision>1</cp:revision>
  <dcterms:created xsi:type="dcterms:W3CDTF">2026-04-14T05:22:22Z</dcterms:created>
  <dcterms:modified xsi:type="dcterms:W3CDTF">2026-04-14T05:22:22Z</dcterms:modified>
</cp:coreProperties>
</file>